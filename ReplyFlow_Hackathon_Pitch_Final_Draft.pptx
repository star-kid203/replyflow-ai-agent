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9C5186-A654-A9FB-57DD-A31A0165D7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E8001-CCD0-1A9E-CB1E-6E6362FD3E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CFA2B-4571-03FD-9F19-3CEDBAC109F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7265F1-0B42-9C51-C6EF-DF92323E3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4573FA-7B9B-ABAD-E27D-19CC998890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BF000-F235-3E89-98D6-0123CBAF4F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623FC4-DCC7-41A4-8523-4798DD0283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6596A5-2ACD-C71C-8A3E-6C7A15CB9F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77094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690439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767733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756807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390964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0988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2676390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545895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959123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36357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40946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470242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2328545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230384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00445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7219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411741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8466177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815033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5129094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973499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0943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08738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0137623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393626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623655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6458761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1018221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904194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9232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681120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3713927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680492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64869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7243497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176830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6771864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1937250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44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5057016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4584709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94054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577416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267502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81997053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9599171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3725632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417714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8456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256265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32825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3380181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05108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42708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704404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734416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046110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834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723671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504156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66280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2617362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896270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0F1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2941781" name="Rectangle 1"/>
          <p:cNvSpPr/>
          <p:nvPr/>
        </p:nvSpPr>
        <p:spPr bwMode="auto">
          <a:xfrm>
            <a:off x="530352" y="1038510"/>
            <a:ext cx="73152" cy="5230368"/>
          </a:xfrm>
          <a:prstGeom prst="rect">
            <a:avLst/>
          </a:prstGeom>
          <a:solidFill>
            <a:srgbClr val="6366F1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8808279" name="TextBox 2"/>
          <p:cNvSpPr txBox="1"/>
          <p:nvPr/>
        </p:nvSpPr>
        <p:spPr bwMode="auto">
          <a:xfrm>
            <a:off x="530352" y="576072"/>
            <a:ext cx="67665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100" b="1" i="0">
                <a:solidFill>
                  <a:srgbClr val="10B981"/>
                </a:solidFill>
                <a:latin typeface="Aptos"/>
              </a:rPr>
              <a:t>OPEN AGENT HACKATHON 2026  /  TRACK 01</a:t>
            </a:r>
            <a:endParaRPr/>
          </a:p>
        </p:txBody>
      </p:sp>
      <p:sp>
        <p:nvSpPr>
          <p:cNvPr id="2145322759" name="TextBox 3"/>
          <p:cNvSpPr txBox="1"/>
          <p:nvPr/>
        </p:nvSpPr>
        <p:spPr bwMode="auto">
          <a:xfrm>
            <a:off x="841248" y="1078992"/>
            <a:ext cx="658368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4200" b="1" i="0">
                <a:solidFill>
                  <a:srgbClr val="F8FAFC"/>
                </a:solidFill>
                <a:latin typeface="Aptos"/>
              </a:rPr>
              <a:t>ReplyFlow</a:t>
            </a:r>
            <a:endParaRPr/>
          </a:p>
        </p:txBody>
      </p:sp>
      <p:sp>
        <p:nvSpPr>
          <p:cNvPr id="168169526" name="TextBox 4"/>
          <p:cNvSpPr txBox="1"/>
          <p:nvPr/>
        </p:nvSpPr>
        <p:spPr bwMode="auto">
          <a:xfrm>
            <a:off x="877824" y="2057400"/>
            <a:ext cx="667512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2500" b="1" i="0">
                <a:solidFill>
                  <a:srgbClr val="DCE4F2"/>
                </a:solidFill>
                <a:latin typeface="Aptos"/>
              </a:rPr>
              <a:t>Autonomous AI customer operations</a:t>
            </a:r>
            <a:br>
              <a:rPr sz="2500" b="1" i="0">
                <a:solidFill>
                  <a:srgbClr val="DCE4F2"/>
                </a:solidFill>
                <a:latin typeface="Aptos"/>
              </a:rPr>
            </a:br>
            <a:r>
              <a:rPr sz="2500" b="1" i="0">
                <a:solidFill>
                  <a:srgbClr val="DCE4F2"/>
                </a:solidFill>
                <a:latin typeface="Aptos"/>
              </a:rPr>
              <a:t>for modern businesses.</a:t>
            </a:r>
            <a:endParaRPr/>
          </a:p>
        </p:txBody>
      </p:sp>
      <p:sp>
        <p:nvSpPr>
          <p:cNvPr id="1592509959" name="TextBox 5"/>
          <p:cNvSpPr txBox="1"/>
          <p:nvPr/>
        </p:nvSpPr>
        <p:spPr bwMode="auto">
          <a:xfrm>
            <a:off x="896112" y="3136392"/>
            <a:ext cx="62179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900" b="1" i="0">
                <a:solidFill>
                  <a:srgbClr val="6366F1"/>
                </a:solidFill>
                <a:latin typeface="Aptos"/>
              </a:rPr>
              <a:t>Every customer deserves a reply.</a:t>
            </a:r>
            <a:endParaRPr/>
          </a:p>
        </p:txBody>
      </p:sp>
      <p:sp>
        <p:nvSpPr>
          <p:cNvPr id="1883085781" name="TextBox 6"/>
          <p:cNvSpPr txBox="1"/>
          <p:nvPr/>
        </p:nvSpPr>
        <p:spPr bwMode="auto">
          <a:xfrm>
            <a:off x="896112" y="3867911"/>
            <a:ext cx="6126480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500" b="0" i="0">
                <a:solidFill>
                  <a:srgbClr val="94A3B8"/>
                </a:solidFill>
                <a:latin typeface="Aptos"/>
              </a:rPr>
              <a:t>From public comments to qualified conversations—</a:t>
            </a:r>
            <a:br>
              <a:rPr sz="1500" b="0" i="0">
                <a:solidFill>
                  <a:srgbClr val="94A3B8"/>
                </a:solidFill>
                <a:latin typeface="Aptos"/>
              </a:rPr>
            </a:br>
            <a:r>
              <a:rPr sz="1500" b="0" i="0">
                <a:solidFill>
                  <a:srgbClr val="94A3B8"/>
                </a:solidFill>
                <a:latin typeface="Aptos"/>
              </a:rPr>
              <a:t>with business-grounded answers and human escalation.</a:t>
            </a:r>
            <a:endParaRPr/>
          </a:p>
        </p:txBody>
      </p:sp>
      <p:sp>
        <p:nvSpPr>
          <p:cNvPr id="1770799000" name="Rounded Rectangle 7"/>
          <p:cNvSpPr/>
          <p:nvPr/>
        </p:nvSpPr>
        <p:spPr bwMode="auto">
          <a:xfrm flipH="0" flipV="0">
            <a:off x="7022591" y="731519"/>
            <a:ext cx="4825345" cy="5212080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8180236" name="TextBox 8"/>
          <p:cNvSpPr txBox="1"/>
          <p:nvPr/>
        </p:nvSpPr>
        <p:spPr bwMode="auto">
          <a:xfrm flipH="0" flipV="0">
            <a:off x="7114032" y="1024127"/>
            <a:ext cx="4696464" cy="2350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" sz="1300" b="1" i="0">
                <a:solidFill>
                  <a:srgbClr val="94A3B8"/>
                </a:solidFill>
                <a:latin typeface="Aptos"/>
              </a:rPr>
              <a:t>A SINGLE AI AGENT SERVING MULTIPLE BUSINESSES </a:t>
            </a:r>
            <a:endParaRPr sz="1300"/>
          </a:p>
        </p:txBody>
      </p:sp>
      <p:sp>
        <p:nvSpPr>
          <p:cNvPr id="874282627" name="Rounded Rectangle 9"/>
          <p:cNvSpPr/>
          <p:nvPr/>
        </p:nvSpPr>
        <p:spPr bwMode="auto">
          <a:xfrm flipH="0" flipV="0">
            <a:off x="7359280" y="1536192"/>
            <a:ext cx="4276143" cy="1170432"/>
          </a:xfrm>
          <a:prstGeom prst="roundRect">
            <a:avLst>
              <a:gd name="adj" fmla="val 12000"/>
            </a:avLst>
          </a:prstGeom>
          <a:solidFill>
            <a:srgbClr val="101827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4741773" name="TextBox 10"/>
          <p:cNvSpPr txBox="1"/>
          <p:nvPr/>
        </p:nvSpPr>
        <p:spPr bwMode="auto">
          <a:xfrm>
            <a:off x="8174736" y="1737360"/>
            <a:ext cx="290779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700" b="1" i="0">
                <a:solidFill>
                  <a:srgbClr val="F8FAFC"/>
                </a:solidFill>
                <a:latin typeface="Aptos"/>
              </a:rPr>
              <a:t>CamTech Electronics</a:t>
            </a:r>
            <a:endParaRPr/>
          </a:p>
        </p:txBody>
      </p:sp>
      <p:sp>
        <p:nvSpPr>
          <p:cNvPr id="1907610529" name="TextBox 11"/>
          <p:cNvSpPr txBox="1"/>
          <p:nvPr/>
        </p:nvSpPr>
        <p:spPr bwMode="auto">
          <a:xfrm>
            <a:off x="8174736" y="2139696"/>
            <a:ext cx="290779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200" b="0" i="0">
                <a:solidFill>
                  <a:srgbClr val="10B981"/>
                </a:solidFill>
                <a:latin typeface="Aptos"/>
              </a:rPr>
              <a:t>Retail • stock and price questions</a:t>
            </a:r>
            <a:endParaRPr/>
          </a:p>
        </p:txBody>
      </p:sp>
      <p:sp>
        <p:nvSpPr>
          <p:cNvPr id="1509810514" name="Rounded Rectangle 12"/>
          <p:cNvSpPr/>
          <p:nvPr/>
        </p:nvSpPr>
        <p:spPr bwMode="auto">
          <a:xfrm flipH="0" flipV="0">
            <a:off x="7359280" y="2907792"/>
            <a:ext cx="4276143" cy="1170432"/>
          </a:xfrm>
          <a:prstGeom prst="roundRect">
            <a:avLst>
              <a:gd name="adj" fmla="val 12000"/>
            </a:avLst>
          </a:prstGeom>
          <a:solidFill>
            <a:srgbClr val="101827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5902435" name="TextBox 13"/>
          <p:cNvSpPr txBox="1"/>
          <p:nvPr/>
        </p:nvSpPr>
        <p:spPr bwMode="auto">
          <a:xfrm>
            <a:off x="8174736" y="3108960"/>
            <a:ext cx="290779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700" b="1" i="0">
                <a:solidFill>
                  <a:srgbClr val="F8FAFC"/>
                </a:solidFill>
                <a:latin typeface="Aptos"/>
              </a:rPr>
              <a:t>DouaTech Solution Sarl</a:t>
            </a:r>
            <a:endParaRPr/>
          </a:p>
        </p:txBody>
      </p:sp>
      <p:sp>
        <p:nvSpPr>
          <p:cNvPr id="701707549" name="TextBox 14"/>
          <p:cNvSpPr txBox="1"/>
          <p:nvPr/>
        </p:nvSpPr>
        <p:spPr bwMode="auto">
          <a:xfrm>
            <a:off x="8174736" y="3511296"/>
            <a:ext cx="290779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200" b="0" i="0">
                <a:solidFill>
                  <a:srgbClr val="10B981"/>
                </a:solidFill>
                <a:latin typeface="Aptos"/>
              </a:rPr>
              <a:t>B2B services • scoping and leads</a:t>
            </a:r>
            <a:endParaRPr/>
          </a:p>
        </p:txBody>
      </p:sp>
      <p:sp>
        <p:nvSpPr>
          <p:cNvPr id="1115771607" name="TextBox 15"/>
          <p:cNvSpPr txBox="1"/>
          <p:nvPr/>
        </p:nvSpPr>
        <p:spPr bwMode="auto">
          <a:xfrm flipH="0" flipV="0">
            <a:off x="7311656" y="4462272"/>
            <a:ext cx="4323768" cy="463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94A3B8"/>
                </a:solidFill>
                <a:latin typeface="Aptos"/>
              </a:rPr>
              <a:t>Designed &amp; engineered by Douatech Solution</a:t>
            </a:r>
            <a:br>
              <a:rPr sz="1400" b="0" i="0">
                <a:solidFill>
                  <a:srgbClr val="94A3B8"/>
                </a:solidFill>
                <a:latin typeface="Aptos"/>
              </a:rPr>
            </a:br>
            <a:r>
              <a:rPr sz="1400" b="0" i="0">
                <a:solidFill>
                  <a:srgbClr val="94A3B8"/>
                </a:solidFill>
                <a:latin typeface="Aptos"/>
              </a:rPr>
              <a:t>Stephen Njong • Founder / Lead Architect</a:t>
            </a:r>
            <a:endParaRPr sz="1400"/>
          </a:p>
        </p:txBody>
      </p:sp>
      <p:sp>
        <p:nvSpPr>
          <p:cNvPr id="1363588491" name="TextBox 16"/>
          <p:cNvSpPr txBox="1"/>
          <p:nvPr/>
        </p:nvSpPr>
        <p:spPr bwMode="auto">
          <a:xfrm>
            <a:off x="896112" y="6126480"/>
            <a:ext cx="6401160" cy="2502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1" i="0">
                <a:solidFill>
                  <a:srgbClr val="F59E0B"/>
                </a:solidFill>
                <a:latin typeface="Aptos"/>
              </a:rPr>
              <a:t>A coordinated operations layer—not another chatbot.</a:t>
            </a:r>
            <a:endParaRPr sz="1400"/>
          </a:p>
        </p:txBody>
      </p:sp>
      <p:sp>
        <p:nvSpPr>
          <p:cNvPr id="1789714379" name="TextBox 17"/>
          <p:cNvSpPr txBox="1"/>
          <p:nvPr/>
        </p:nvSpPr>
        <p:spPr bwMode="auto">
          <a:xfrm>
            <a:off x="11119104" y="6528816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/>
            </a:pPr>
            <a:r>
              <a:rPr sz="800" b="1" i="0">
                <a:solidFill>
                  <a:srgbClr val="94A3B8"/>
                </a:solidFill>
                <a:latin typeface="Aptos"/>
              </a:rPr>
              <a:t>01/08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0F1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42496" name="TextBox 1"/>
          <p:cNvSpPr txBox="1"/>
          <p:nvPr/>
        </p:nvSpPr>
        <p:spPr bwMode="auto">
          <a:xfrm>
            <a:off x="530352" y="-118302"/>
            <a:ext cx="10881720" cy="49413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3000" b="1" i="0">
                <a:solidFill>
                  <a:srgbClr val="6366F1"/>
                </a:solidFill>
                <a:latin typeface="Aptos"/>
              </a:rPr>
              <a:t>02 / THE BUSINESS PROBLEM</a:t>
            </a:r>
            <a:endParaRPr sz="3000"/>
          </a:p>
        </p:txBody>
      </p:sp>
      <p:sp>
        <p:nvSpPr>
          <p:cNvPr id="664685193" name="TextBox 2"/>
          <p:cNvSpPr txBox="1"/>
          <p:nvPr/>
        </p:nvSpPr>
        <p:spPr bwMode="auto">
          <a:xfrm>
            <a:off x="530352" y="534828"/>
            <a:ext cx="110642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2600" b="1" i="0">
                <a:solidFill>
                  <a:srgbClr val="F8FAFC"/>
                </a:solidFill>
                <a:latin typeface="Aptos"/>
              </a:rPr>
              <a:t>The expensive part isn’t the inbox. It’s what slips through it.</a:t>
            </a:r>
            <a:endParaRPr/>
          </a:p>
        </p:txBody>
      </p:sp>
      <p:sp>
        <p:nvSpPr>
          <p:cNvPr id="1438784934" name="TextBox 3"/>
          <p:cNvSpPr txBox="1"/>
          <p:nvPr/>
        </p:nvSpPr>
        <p:spPr bwMode="auto">
          <a:xfrm>
            <a:off x="548640" y="1115568"/>
            <a:ext cx="10973160" cy="2502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94A3B8"/>
                </a:solidFill>
                <a:latin typeface="Aptos"/>
              </a:rPr>
              <a:t>Companies pay for people to watch channels—yet customers still wait, leads get buried, and public complaints linger.</a:t>
            </a:r>
            <a:endParaRPr sz="1400"/>
          </a:p>
        </p:txBody>
      </p:sp>
      <p:sp>
        <p:nvSpPr>
          <p:cNvPr id="1987739393" name="Rectangle 4"/>
          <p:cNvSpPr/>
          <p:nvPr/>
        </p:nvSpPr>
        <p:spPr bwMode="auto">
          <a:xfrm>
            <a:off x="530352" y="6432708"/>
            <a:ext cx="11109960" cy="10972"/>
          </a:xfrm>
          <a:prstGeom prst="rect">
            <a:avLst/>
          </a:prstGeom>
          <a:solidFill>
            <a:srgbClr val="26334D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4468557" name="TextBox 5"/>
          <p:cNvSpPr txBox="1"/>
          <p:nvPr/>
        </p:nvSpPr>
        <p:spPr bwMode="auto"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800" b="0" i="0">
                <a:solidFill>
                  <a:srgbClr val="94A3B8"/>
                </a:solidFill>
                <a:latin typeface="Aptos"/>
              </a:rPr>
              <a:t>REPLYFLOW  •  OPEN AGENT HACKATHON 2026</a:t>
            </a:r>
            <a:endParaRPr/>
          </a:p>
        </p:txBody>
      </p:sp>
      <p:sp>
        <p:nvSpPr>
          <p:cNvPr id="1873635741" name="TextBox 6"/>
          <p:cNvSpPr txBox="1"/>
          <p:nvPr/>
        </p:nvSpPr>
        <p:spPr bwMode="auto">
          <a:xfrm>
            <a:off x="11137392" y="6519672"/>
            <a:ext cx="43891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/>
            </a:pPr>
            <a:r>
              <a:rPr sz="800" b="1" i="0">
                <a:solidFill>
                  <a:srgbClr val="94A3B8"/>
                </a:solidFill>
                <a:latin typeface="Aptos"/>
              </a:rPr>
              <a:t>02/08</a:t>
            </a:r>
            <a:endParaRPr/>
          </a:p>
        </p:txBody>
      </p:sp>
      <p:sp>
        <p:nvSpPr>
          <p:cNvPr id="2066902492" name="Rounded Rectangle 7"/>
          <p:cNvSpPr/>
          <p:nvPr/>
        </p:nvSpPr>
        <p:spPr bwMode="auto">
          <a:xfrm>
            <a:off x="566928" y="1627632"/>
            <a:ext cx="3246120" cy="4434840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5130225" name="TextBox 8"/>
          <p:cNvSpPr txBox="1"/>
          <p:nvPr/>
        </p:nvSpPr>
        <p:spPr bwMode="auto">
          <a:xfrm>
            <a:off x="804672" y="1847088"/>
            <a:ext cx="26974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00" b="1" i="0">
                <a:solidFill>
                  <a:srgbClr val="F59E0B"/>
                </a:solidFill>
                <a:latin typeface="Aptos"/>
              </a:rPr>
              <a:t>THE SPARK: A REAL CUSTOMER FAILURE</a:t>
            </a:r>
            <a:endParaRPr/>
          </a:p>
        </p:txBody>
      </p:sp>
      <p:sp>
        <p:nvSpPr>
          <p:cNvPr id="1095304956" name="TextBox 9"/>
          <p:cNvSpPr txBox="1"/>
          <p:nvPr/>
        </p:nvSpPr>
        <p:spPr bwMode="auto">
          <a:xfrm>
            <a:off x="804672" y="2034254"/>
            <a:ext cx="2671127" cy="7379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2300" b="1" i="0">
                <a:solidFill>
                  <a:srgbClr val="F8FAFC"/>
                </a:solidFill>
                <a:latin typeface="Aptos"/>
              </a:rPr>
              <a:t>48 hours</a:t>
            </a:r>
            <a:r>
              <a:rPr lang="en" sz="2300" b="1" i="0">
                <a:solidFill>
                  <a:srgbClr val="F8FAFC"/>
                </a:solidFill>
                <a:latin typeface="Aptos"/>
              </a:rPr>
              <a:t>!</a:t>
            </a:r>
            <a:br>
              <a:rPr sz="2300" b="1" i="0">
                <a:solidFill>
                  <a:srgbClr val="F8FAFC"/>
                </a:solidFill>
                <a:latin typeface="Aptos"/>
              </a:rPr>
            </a:br>
            <a:r>
              <a:rPr sz="2300" b="1" i="0">
                <a:solidFill>
                  <a:srgbClr val="F8FAFC"/>
                </a:solidFill>
                <a:latin typeface="Aptos"/>
              </a:rPr>
              <a:t>No useful answer.</a:t>
            </a:r>
            <a:endParaRPr sz="2300"/>
          </a:p>
        </p:txBody>
      </p:sp>
      <p:sp>
        <p:nvSpPr>
          <p:cNvPr id="1512271837" name="TextBox 10"/>
          <p:cNvSpPr txBox="1"/>
          <p:nvPr/>
        </p:nvSpPr>
        <p:spPr bwMode="auto">
          <a:xfrm flipH="0" flipV="0">
            <a:off x="790956" y="2874931"/>
            <a:ext cx="2757960" cy="23838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DCE4F2"/>
                </a:solidFill>
                <a:latin typeface="Aptos"/>
              </a:rPr>
              <a:t>I reported a SIM-related issue through a telecom provider’s WhatsApp support. The AI replied off-topic; </a:t>
            </a:r>
            <a:r>
              <a:rPr lang="en" sz="1400" b="0" i="0">
                <a:solidFill>
                  <a:srgbClr val="DCE4F2"/>
                </a:solidFill>
                <a:latin typeface="Aptos"/>
              </a:rPr>
              <a:t>I </a:t>
            </a:r>
            <a:r>
              <a:rPr sz="1400" b="0" i="0">
                <a:solidFill>
                  <a:srgbClr val="DCE4F2"/>
                </a:solidFill>
                <a:latin typeface="Aptos"/>
              </a:rPr>
              <a:t>ask</a:t>
            </a:r>
            <a:r>
              <a:rPr lang="en" sz="1400" b="0" i="0">
                <a:solidFill>
                  <a:srgbClr val="DCE4F2"/>
                </a:solidFill>
                <a:latin typeface="Aptos"/>
              </a:rPr>
              <a:t>ed</a:t>
            </a:r>
            <a:r>
              <a:rPr sz="1400" b="0" i="0">
                <a:solidFill>
                  <a:srgbClr val="DCE4F2"/>
                </a:solidFill>
                <a:latin typeface="Aptos"/>
              </a:rPr>
              <a:t> for a</a:t>
            </a:r>
            <a:r>
              <a:rPr lang="en" sz="1400" b="0" i="0">
                <a:solidFill>
                  <a:srgbClr val="DCE4F2"/>
                </a:solidFill>
                <a:latin typeface="Aptos"/>
              </a:rPr>
              <a:t>n Ai to connect me with real staff and I got a</a:t>
            </a:r>
            <a:r>
              <a:rPr sz="1400" b="0" i="0">
                <a:solidFill>
                  <a:srgbClr val="DCE4F2"/>
                </a:solidFill>
                <a:latin typeface="Aptos"/>
              </a:rPr>
              <a:t> repeated response. Two days later, the case was still unresolved. A second support ticket elsewhere also took over two days</a:t>
            </a:r>
            <a:r>
              <a:rPr lang="en" sz="1400" b="0" i="0">
                <a:solidFill>
                  <a:srgbClr val="DCE4F2"/>
                </a:solidFill>
                <a:latin typeface="Aptos"/>
              </a:rPr>
              <a:t> and I had to use my network to solve the issue.. </a:t>
            </a:r>
            <a:endParaRPr sz="1400"/>
          </a:p>
        </p:txBody>
      </p:sp>
      <p:sp>
        <p:nvSpPr>
          <p:cNvPr id="190364586" name="TextBox 11"/>
          <p:cNvSpPr txBox="1"/>
          <p:nvPr/>
        </p:nvSpPr>
        <p:spPr bwMode="auto">
          <a:xfrm>
            <a:off x="804672" y="5463825"/>
            <a:ext cx="269748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200" b="1" i="0">
                <a:solidFill>
                  <a:srgbClr val="10B981"/>
                </a:solidFill>
                <a:latin typeface="Aptos"/>
              </a:rPr>
              <a:t>The insight: this isn’t only a model problem. It’s an operations problem.</a:t>
            </a:r>
            <a:endParaRPr/>
          </a:p>
        </p:txBody>
      </p:sp>
      <p:sp>
        <p:nvSpPr>
          <p:cNvPr id="731317042" name="Rounded Rectangle 12"/>
          <p:cNvSpPr/>
          <p:nvPr/>
        </p:nvSpPr>
        <p:spPr bwMode="auto">
          <a:xfrm flipH="0" flipV="0">
            <a:off x="4069080" y="1645920"/>
            <a:ext cx="3502152" cy="1449704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3624560" name="Rectangle 13"/>
          <p:cNvSpPr/>
          <p:nvPr/>
        </p:nvSpPr>
        <p:spPr bwMode="auto">
          <a:xfrm flipH="0" flipV="0">
            <a:off x="4069080" y="1645920"/>
            <a:ext cx="50292" cy="1449704"/>
          </a:xfrm>
          <a:prstGeom prst="rect">
            <a:avLst/>
          </a:prstGeom>
          <a:solidFill>
            <a:srgbClr val="6366F1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4892693" name="TextBox 14"/>
          <p:cNvSpPr txBox="1"/>
          <p:nvPr/>
        </p:nvSpPr>
        <p:spPr bwMode="auto">
          <a:xfrm>
            <a:off x="4251960" y="1773936"/>
            <a:ext cx="31729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00" b="1" i="0">
                <a:solidFill>
                  <a:srgbClr val="6366F1"/>
                </a:solidFill>
                <a:latin typeface="Aptos"/>
              </a:rPr>
              <a:t>01 / COST WITHOUT COVERAGE</a:t>
            </a:r>
            <a:endParaRPr/>
          </a:p>
        </p:txBody>
      </p:sp>
      <p:sp>
        <p:nvSpPr>
          <p:cNvPr id="951360274" name="TextBox 15"/>
          <p:cNvSpPr txBox="1"/>
          <p:nvPr/>
        </p:nvSpPr>
        <p:spPr bwMode="auto">
          <a:xfrm>
            <a:off x="4251960" y="1971888"/>
            <a:ext cx="317296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600" b="1" i="0">
                <a:solidFill>
                  <a:srgbClr val="F8FAFC"/>
                </a:solidFill>
                <a:latin typeface="Aptos"/>
              </a:rPr>
              <a:t>Human attention doesn’t scale</a:t>
            </a:r>
            <a:endParaRPr/>
          </a:p>
        </p:txBody>
      </p:sp>
      <p:sp>
        <p:nvSpPr>
          <p:cNvPr id="172501973" name="TextBox 16"/>
          <p:cNvSpPr txBox="1"/>
          <p:nvPr/>
        </p:nvSpPr>
        <p:spPr bwMode="auto">
          <a:xfrm flipH="0" flipV="0">
            <a:off x="4251960" y="2316145"/>
            <a:ext cx="3156480" cy="6312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>
                <a:solidFill>
                  <a:srgbClr val="94A3B8"/>
                </a:solidFill>
                <a:latin typeface="Aptos"/>
              </a:rPr>
              <a:t>Teams are expected to monitor multiple channels, answer repeat questions, and chase internal data.</a:t>
            </a:r>
            <a:endParaRPr sz="1300"/>
          </a:p>
        </p:txBody>
      </p:sp>
      <p:sp>
        <p:nvSpPr>
          <p:cNvPr id="1197551420" name="Rounded Rectangle 17"/>
          <p:cNvSpPr/>
          <p:nvPr/>
        </p:nvSpPr>
        <p:spPr bwMode="auto">
          <a:xfrm flipH="0" flipV="0">
            <a:off x="7818119" y="1645920"/>
            <a:ext cx="3767328" cy="1449704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5676871" name="Rectangle 18"/>
          <p:cNvSpPr/>
          <p:nvPr/>
        </p:nvSpPr>
        <p:spPr bwMode="auto">
          <a:xfrm flipH="0" flipV="0">
            <a:off x="7818120" y="1645920"/>
            <a:ext cx="50292" cy="1449704"/>
          </a:xfrm>
          <a:prstGeom prst="rect">
            <a:avLst/>
          </a:prstGeom>
          <a:solidFill>
            <a:srgbClr val="10B98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9289454" name="TextBox 19"/>
          <p:cNvSpPr txBox="1"/>
          <p:nvPr/>
        </p:nvSpPr>
        <p:spPr bwMode="auto">
          <a:xfrm>
            <a:off x="8001000" y="1773936"/>
            <a:ext cx="343814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00" b="1" i="0">
                <a:solidFill>
                  <a:srgbClr val="10B981"/>
                </a:solidFill>
                <a:latin typeface="Aptos"/>
              </a:rPr>
              <a:t>02 / LEADS BURIED IN NOISE</a:t>
            </a:r>
            <a:endParaRPr/>
          </a:p>
        </p:txBody>
      </p:sp>
      <p:sp>
        <p:nvSpPr>
          <p:cNvPr id="398105564" name="TextBox 20"/>
          <p:cNvSpPr txBox="1"/>
          <p:nvPr/>
        </p:nvSpPr>
        <p:spPr bwMode="auto">
          <a:xfrm>
            <a:off x="8001000" y="2029968"/>
            <a:ext cx="3438144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600" b="1" i="0">
                <a:solidFill>
                  <a:srgbClr val="F8FAFC"/>
                </a:solidFill>
                <a:latin typeface="Aptos"/>
              </a:rPr>
              <a:t>Every comment is not a lead</a:t>
            </a:r>
            <a:endParaRPr/>
          </a:p>
        </p:txBody>
      </p:sp>
      <p:sp>
        <p:nvSpPr>
          <p:cNvPr id="1845214950" name="TextBox 21"/>
          <p:cNvSpPr txBox="1"/>
          <p:nvPr/>
        </p:nvSpPr>
        <p:spPr bwMode="auto">
          <a:xfrm>
            <a:off x="8001000" y="2313241"/>
            <a:ext cx="3420216" cy="6312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>
                <a:solidFill>
                  <a:srgbClr val="94A3B8"/>
                </a:solidFill>
                <a:latin typeface="Aptos"/>
              </a:rPr>
              <a:t>Campaigns mix emoji hype, genuine questions, complaints, and buying signals in the same feed.</a:t>
            </a:r>
            <a:endParaRPr sz="1300"/>
          </a:p>
        </p:txBody>
      </p:sp>
      <p:sp>
        <p:nvSpPr>
          <p:cNvPr id="691902518" name="Rounded Rectangle 22"/>
          <p:cNvSpPr/>
          <p:nvPr/>
        </p:nvSpPr>
        <p:spPr bwMode="auto">
          <a:xfrm flipH="0" flipV="0">
            <a:off x="4069080" y="3246120"/>
            <a:ext cx="3502152" cy="1492567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7131584" name="Rectangle 23"/>
          <p:cNvSpPr/>
          <p:nvPr/>
        </p:nvSpPr>
        <p:spPr bwMode="auto">
          <a:xfrm flipH="0" flipV="0">
            <a:off x="4069080" y="3246120"/>
            <a:ext cx="50292" cy="1492567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910665" name="TextBox 24"/>
          <p:cNvSpPr txBox="1"/>
          <p:nvPr/>
        </p:nvSpPr>
        <p:spPr bwMode="auto">
          <a:xfrm>
            <a:off x="4251960" y="3374136"/>
            <a:ext cx="31729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00" b="1" i="0">
                <a:solidFill>
                  <a:srgbClr val="F59E0B"/>
                </a:solidFill>
                <a:latin typeface="Aptos"/>
              </a:rPr>
              <a:t>03 / SLOW ANSWERS LOSE INTENT</a:t>
            </a:r>
            <a:endParaRPr/>
          </a:p>
        </p:txBody>
      </p:sp>
      <p:sp>
        <p:nvSpPr>
          <p:cNvPr id="785898821" name="TextBox 25"/>
          <p:cNvSpPr txBox="1"/>
          <p:nvPr/>
        </p:nvSpPr>
        <p:spPr bwMode="auto">
          <a:xfrm>
            <a:off x="4251960" y="3570636"/>
            <a:ext cx="317296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600" b="1" i="0">
                <a:solidFill>
                  <a:srgbClr val="F8FAFC"/>
                </a:solidFill>
                <a:latin typeface="Aptos"/>
              </a:rPr>
              <a:t>Late can mean lost</a:t>
            </a:r>
            <a:endParaRPr/>
          </a:p>
        </p:txBody>
      </p:sp>
      <p:sp>
        <p:nvSpPr>
          <p:cNvPr id="880797368" name="TextBox 26"/>
          <p:cNvSpPr txBox="1"/>
          <p:nvPr/>
        </p:nvSpPr>
        <p:spPr bwMode="auto">
          <a:xfrm>
            <a:off x="4251960" y="4032504"/>
            <a:ext cx="3155040" cy="463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94A3B8"/>
                </a:solidFill>
                <a:latin typeface="Aptos"/>
              </a:rPr>
              <a:t>A prospect may choose a competitor before a human response arrives.</a:t>
            </a:r>
            <a:endParaRPr sz="1400"/>
          </a:p>
        </p:txBody>
      </p:sp>
      <p:sp>
        <p:nvSpPr>
          <p:cNvPr id="651304466" name="Rounded Rectangle 27"/>
          <p:cNvSpPr/>
          <p:nvPr/>
        </p:nvSpPr>
        <p:spPr bwMode="auto">
          <a:xfrm flipH="0" flipV="0">
            <a:off x="7818119" y="3246120"/>
            <a:ext cx="3767328" cy="1492567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1778288" name="Rectangle 28"/>
          <p:cNvSpPr/>
          <p:nvPr/>
        </p:nvSpPr>
        <p:spPr bwMode="auto">
          <a:xfrm flipH="0" flipV="0">
            <a:off x="7818120" y="3246120"/>
            <a:ext cx="50292" cy="1492567"/>
          </a:xfrm>
          <a:prstGeom prst="rect">
            <a:avLst/>
          </a:prstGeom>
          <a:solidFill>
            <a:srgbClr val="6366F1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8880834" name="TextBox 29"/>
          <p:cNvSpPr txBox="1"/>
          <p:nvPr/>
        </p:nvSpPr>
        <p:spPr bwMode="auto">
          <a:xfrm>
            <a:off x="8001000" y="3374136"/>
            <a:ext cx="343814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00" b="1" i="0">
                <a:solidFill>
                  <a:srgbClr val="6366F1"/>
                </a:solidFill>
                <a:latin typeface="Aptos"/>
              </a:rPr>
              <a:t>04 / CONTEXT IS FRAGMENTED</a:t>
            </a:r>
            <a:endParaRPr/>
          </a:p>
        </p:txBody>
      </p:sp>
      <p:sp>
        <p:nvSpPr>
          <p:cNvPr id="861878863" name="TextBox 30"/>
          <p:cNvSpPr txBox="1"/>
          <p:nvPr/>
        </p:nvSpPr>
        <p:spPr bwMode="auto">
          <a:xfrm>
            <a:off x="8001000" y="3570636"/>
            <a:ext cx="3438144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600" b="1" i="0">
                <a:solidFill>
                  <a:srgbClr val="F8FAFC"/>
                </a:solidFill>
                <a:latin typeface="Aptos"/>
              </a:rPr>
              <a:t>The answer lives elsewhere</a:t>
            </a:r>
            <a:endParaRPr/>
          </a:p>
        </p:txBody>
      </p:sp>
      <p:sp>
        <p:nvSpPr>
          <p:cNvPr id="541438641" name="TextBox 31"/>
          <p:cNvSpPr txBox="1"/>
          <p:nvPr/>
        </p:nvSpPr>
        <p:spPr bwMode="auto">
          <a:xfrm>
            <a:off x="8001000" y="3972972"/>
            <a:ext cx="3420576" cy="677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94A3B8"/>
                </a:solidFill>
                <a:latin typeface="Aptos"/>
              </a:rPr>
              <a:t>Stock may be in a warehouse sheet; service scope in a PDF; the conversation in a DM.</a:t>
            </a:r>
            <a:endParaRPr sz="1400"/>
          </a:p>
        </p:txBody>
      </p:sp>
      <p:sp>
        <p:nvSpPr>
          <p:cNvPr id="1614775671" name="Rounded Rectangle 32"/>
          <p:cNvSpPr/>
          <p:nvPr/>
        </p:nvSpPr>
        <p:spPr bwMode="auto">
          <a:xfrm>
            <a:off x="4069080" y="4901184"/>
            <a:ext cx="7516368" cy="1078992"/>
          </a:xfrm>
          <a:prstGeom prst="roundRect">
            <a:avLst>
              <a:gd name="adj" fmla="val 12000"/>
            </a:avLst>
          </a:prstGeom>
          <a:solidFill>
            <a:srgbClr val="101827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4091862" name="TextBox 33"/>
          <p:cNvSpPr txBox="1"/>
          <p:nvPr/>
        </p:nvSpPr>
        <p:spPr bwMode="auto">
          <a:xfrm>
            <a:off x="4297680" y="5093208"/>
            <a:ext cx="7041600" cy="3112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800" b="1" i="0">
                <a:solidFill>
                  <a:srgbClr val="94A3B8"/>
                </a:solidFill>
                <a:latin typeface="Aptos"/>
              </a:rPr>
              <a:t>THE TARGET CUSTOMER</a:t>
            </a:r>
            <a:endParaRPr sz="1800"/>
          </a:p>
        </p:txBody>
      </p:sp>
      <p:sp>
        <p:nvSpPr>
          <p:cNvPr id="2026052710" name="TextBox 34"/>
          <p:cNvSpPr txBox="1"/>
          <p:nvPr/>
        </p:nvSpPr>
        <p:spPr bwMode="auto">
          <a:xfrm>
            <a:off x="4297680" y="5404104"/>
            <a:ext cx="6995520" cy="49413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500" b="1" i="0">
                <a:solidFill>
                  <a:srgbClr val="F8FAFC"/>
                </a:solidFill>
                <a:latin typeface="Aptos"/>
              </a:rPr>
              <a:t>Mid-market and enterprise teams with high-volume support, sales, and social channels—especially retail and B2B services.</a:t>
            </a:r>
            <a:endParaRPr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0F1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346394" name="TextBox 1"/>
          <p:cNvSpPr txBox="1"/>
          <p:nvPr/>
        </p:nvSpPr>
        <p:spPr bwMode="auto">
          <a:xfrm>
            <a:off x="530352" y="2211"/>
            <a:ext cx="10881720" cy="49413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3000" b="1" i="0">
                <a:solidFill>
                  <a:srgbClr val="6366F1"/>
                </a:solidFill>
                <a:latin typeface="Aptos"/>
              </a:rPr>
              <a:t>03 / WHY REPLYFLOW</a:t>
            </a:r>
            <a:endParaRPr sz="3000"/>
          </a:p>
        </p:txBody>
      </p:sp>
      <p:sp>
        <p:nvSpPr>
          <p:cNvPr id="1635114663" name="TextBox 2"/>
          <p:cNvSpPr txBox="1"/>
          <p:nvPr/>
        </p:nvSpPr>
        <p:spPr bwMode="auto">
          <a:xfrm>
            <a:off x="530352" y="713422"/>
            <a:ext cx="110642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2600" b="1" i="0">
                <a:solidFill>
                  <a:srgbClr val="F8FAFC"/>
                </a:solidFill>
                <a:latin typeface="Aptos"/>
              </a:rPr>
              <a:t>ReplyFlow turns scattered messages into managed outcomes.</a:t>
            </a:r>
            <a:endParaRPr/>
          </a:p>
        </p:txBody>
      </p:sp>
      <p:sp>
        <p:nvSpPr>
          <p:cNvPr id="1130008085" name="TextBox 3"/>
          <p:cNvSpPr txBox="1"/>
          <p:nvPr/>
        </p:nvSpPr>
        <p:spPr bwMode="auto">
          <a:xfrm>
            <a:off x="548640" y="1353692"/>
            <a:ext cx="10973160" cy="2655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500" b="0" i="0">
                <a:solidFill>
                  <a:srgbClr val="94A3B8"/>
                </a:solidFill>
                <a:latin typeface="Aptos"/>
              </a:rPr>
              <a:t>An AI operations layer that understands the request, grounds the answer, and knows when a human should take over.</a:t>
            </a:r>
            <a:endParaRPr sz="1500"/>
          </a:p>
        </p:txBody>
      </p:sp>
      <p:sp>
        <p:nvSpPr>
          <p:cNvPr id="1259867679" name="Rectangle 4"/>
          <p:cNvSpPr/>
          <p:nvPr/>
        </p:nvSpPr>
        <p:spPr bwMode="auto">
          <a:xfrm>
            <a:off x="530352" y="6492240"/>
            <a:ext cx="11109960" cy="10972"/>
          </a:xfrm>
          <a:prstGeom prst="rect">
            <a:avLst/>
          </a:prstGeom>
          <a:solidFill>
            <a:srgbClr val="26334D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9089221" name="TextBox 5"/>
          <p:cNvSpPr txBox="1"/>
          <p:nvPr/>
        </p:nvSpPr>
        <p:spPr bwMode="auto"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800" b="0" i="0">
                <a:solidFill>
                  <a:srgbClr val="94A3B8"/>
                </a:solidFill>
                <a:latin typeface="Aptos"/>
              </a:rPr>
              <a:t>REPLYFLOW  •  OPEN AGENT HACKATHON 2026</a:t>
            </a:r>
            <a:endParaRPr/>
          </a:p>
        </p:txBody>
      </p:sp>
      <p:sp>
        <p:nvSpPr>
          <p:cNvPr id="1823844771" name="TextBox 6"/>
          <p:cNvSpPr txBox="1"/>
          <p:nvPr/>
        </p:nvSpPr>
        <p:spPr bwMode="auto">
          <a:xfrm>
            <a:off x="11195471" y="6519672"/>
            <a:ext cx="43891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/>
            </a:pPr>
            <a:r>
              <a:rPr sz="800" b="1" i="0">
                <a:solidFill>
                  <a:srgbClr val="94A3B8"/>
                </a:solidFill>
                <a:latin typeface="Aptos"/>
              </a:rPr>
              <a:t>03/08</a:t>
            </a:r>
            <a:endParaRPr/>
          </a:p>
        </p:txBody>
      </p:sp>
      <p:sp>
        <p:nvSpPr>
          <p:cNvPr id="1713936249" name="Rounded Rectangle 7"/>
          <p:cNvSpPr/>
          <p:nvPr/>
        </p:nvSpPr>
        <p:spPr bwMode="auto">
          <a:xfrm>
            <a:off x="566928" y="1874519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3404780" name="TextBox 8"/>
          <p:cNvSpPr txBox="1"/>
          <p:nvPr/>
        </p:nvSpPr>
        <p:spPr bwMode="auto">
          <a:xfrm>
            <a:off x="731520" y="2039112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100" b="1" i="0">
                <a:solidFill>
                  <a:srgbClr val="6366F1"/>
                </a:solidFill>
                <a:latin typeface="Aptos"/>
              </a:rPr>
              <a:t>01</a:t>
            </a:r>
            <a:endParaRPr/>
          </a:p>
        </p:txBody>
      </p:sp>
      <p:sp>
        <p:nvSpPr>
          <p:cNvPr id="2018733529" name="TextBox 9"/>
          <p:cNvSpPr txBox="1"/>
          <p:nvPr/>
        </p:nvSpPr>
        <p:spPr bwMode="auto">
          <a:xfrm>
            <a:off x="731520" y="2432303"/>
            <a:ext cx="1783079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700" b="1" i="0">
                <a:solidFill>
                  <a:srgbClr val="F8FAFC"/>
                </a:solidFill>
                <a:latin typeface="Aptos"/>
              </a:rPr>
              <a:t>CONNECT</a:t>
            </a:r>
            <a:endParaRPr/>
          </a:p>
        </p:txBody>
      </p:sp>
      <p:sp>
        <p:nvSpPr>
          <p:cNvPr id="1980585467" name="TextBox 10"/>
          <p:cNvSpPr txBox="1"/>
          <p:nvPr/>
        </p:nvSpPr>
        <p:spPr bwMode="auto">
          <a:xfrm>
            <a:off x="731520" y="2880360"/>
            <a:ext cx="1792582" cy="463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94A3B8"/>
                </a:solidFill>
                <a:latin typeface="Aptos"/>
              </a:rPr>
              <a:t>WhatsApp, social</a:t>
            </a:r>
            <a:br>
              <a:rPr sz="1400" b="0" i="0">
                <a:solidFill>
                  <a:srgbClr val="94A3B8"/>
                </a:solidFill>
                <a:latin typeface="Aptos"/>
              </a:rPr>
            </a:br>
            <a:r>
              <a:rPr sz="1400" b="0" i="0">
                <a:solidFill>
                  <a:srgbClr val="94A3B8"/>
                </a:solidFill>
                <a:latin typeface="Aptos"/>
              </a:rPr>
              <a:t>comments, web chat</a:t>
            </a:r>
            <a:endParaRPr sz="1400"/>
          </a:p>
        </p:txBody>
      </p:sp>
      <p:sp>
        <p:nvSpPr>
          <p:cNvPr id="1851856940" name="TextBox 11"/>
          <p:cNvSpPr txBox="1"/>
          <p:nvPr/>
        </p:nvSpPr>
        <p:spPr bwMode="auto">
          <a:xfrm>
            <a:off x="2683764" y="2551176"/>
            <a:ext cx="182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sz="2300" b="1" i="0">
                <a:solidFill>
                  <a:srgbClr val="6366F1"/>
                </a:solidFill>
                <a:latin typeface="Aptos"/>
              </a:rPr>
              <a:t>›</a:t>
            </a:r>
            <a:endParaRPr/>
          </a:p>
        </p:txBody>
      </p:sp>
      <p:sp>
        <p:nvSpPr>
          <p:cNvPr id="1430093634" name="Rounded Rectangle 12"/>
          <p:cNvSpPr/>
          <p:nvPr/>
        </p:nvSpPr>
        <p:spPr bwMode="auto">
          <a:xfrm>
            <a:off x="2852928" y="1874519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6672995" name="TextBox 13"/>
          <p:cNvSpPr txBox="1"/>
          <p:nvPr/>
        </p:nvSpPr>
        <p:spPr bwMode="auto">
          <a:xfrm>
            <a:off x="3017519" y="2039112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100" b="1" i="0">
                <a:solidFill>
                  <a:srgbClr val="10B981"/>
                </a:solidFill>
                <a:latin typeface="Aptos"/>
              </a:rPr>
              <a:t>02</a:t>
            </a:r>
            <a:endParaRPr/>
          </a:p>
        </p:txBody>
      </p:sp>
      <p:sp>
        <p:nvSpPr>
          <p:cNvPr id="1577668610" name="TextBox 14"/>
          <p:cNvSpPr txBox="1"/>
          <p:nvPr/>
        </p:nvSpPr>
        <p:spPr bwMode="auto">
          <a:xfrm>
            <a:off x="3017519" y="2432303"/>
            <a:ext cx="1783079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700" b="1" i="0">
                <a:solidFill>
                  <a:srgbClr val="F8FAFC"/>
                </a:solidFill>
                <a:latin typeface="Aptos"/>
              </a:rPr>
              <a:t>TRIAGE</a:t>
            </a:r>
            <a:endParaRPr/>
          </a:p>
        </p:txBody>
      </p:sp>
      <p:sp>
        <p:nvSpPr>
          <p:cNvPr id="1954156060" name="TextBox 15"/>
          <p:cNvSpPr txBox="1"/>
          <p:nvPr/>
        </p:nvSpPr>
        <p:spPr bwMode="auto">
          <a:xfrm>
            <a:off x="3017519" y="2880360"/>
            <a:ext cx="1792582" cy="463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94A3B8"/>
                </a:solidFill>
                <a:latin typeface="Aptos"/>
              </a:rPr>
              <a:t>Drop noise; detect</a:t>
            </a:r>
            <a:br>
              <a:rPr sz="1400" b="0" i="0">
                <a:solidFill>
                  <a:srgbClr val="94A3B8"/>
                </a:solidFill>
                <a:latin typeface="Aptos"/>
              </a:rPr>
            </a:br>
            <a:r>
              <a:rPr sz="1400" b="0" i="0">
                <a:solidFill>
                  <a:srgbClr val="94A3B8"/>
                </a:solidFill>
                <a:latin typeface="Aptos"/>
              </a:rPr>
              <a:t>intent and urgency</a:t>
            </a:r>
            <a:endParaRPr sz="1400"/>
          </a:p>
        </p:txBody>
      </p:sp>
      <p:sp>
        <p:nvSpPr>
          <p:cNvPr id="1304643682" name="TextBox 16"/>
          <p:cNvSpPr txBox="1"/>
          <p:nvPr/>
        </p:nvSpPr>
        <p:spPr bwMode="auto">
          <a:xfrm>
            <a:off x="4969764" y="2551176"/>
            <a:ext cx="182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sz="2300" b="1" i="0">
                <a:solidFill>
                  <a:srgbClr val="6366F1"/>
                </a:solidFill>
                <a:latin typeface="Aptos"/>
              </a:rPr>
              <a:t>›</a:t>
            </a:r>
            <a:endParaRPr/>
          </a:p>
        </p:txBody>
      </p:sp>
      <p:sp>
        <p:nvSpPr>
          <p:cNvPr id="1435910968" name="Rounded Rectangle 17"/>
          <p:cNvSpPr/>
          <p:nvPr/>
        </p:nvSpPr>
        <p:spPr bwMode="auto">
          <a:xfrm>
            <a:off x="5138928" y="1874519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9557200" name="TextBox 18"/>
          <p:cNvSpPr txBox="1"/>
          <p:nvPr/>
        </p:nvSpPr>
        <p:spPr bwMode="auto">
          <a:xfrm>
            <a:off x="5303520" y="2039112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100" b="1" i="0">
                <a:solidFill>
                  <a:srgbClr val="F59E0B"/>
                </a:solidFill>
                <a:latin typeface="Aptos"/>
              </a:rPr>
              <a:t>03</a:t>
            </a:r>
            <a:endParaRPr/>
          </a:p>
        </p:txBody>
      </p:sp>
      <p:sp>
        <p:nvSpPr>
          <p:cNvPr id="412288524" name="TextBox 19"/>
          <p:cNvSpPr txBox="1"/>
          <p:nvPr/>
        </p:nvSpPr>
        <p:spPr bwMode="auto">
          <a:xfrm>
            <a:off x="5303520" y="2432303"/>
            <a:ext cx="1783079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700" b="1" i="0">
                <a:solidFill>
                  <a:srgbClr val="F8FAFC"/>
                </a:solidFill>
                <a:latin typeface="Aptos"/>
              </a:rPr>
              <a:t>GROUND</a:t>
            </a:r>
            <a:endParaRPr/>
          </a:p>
        </p:txBody>
      </p:sp>
      <p:sp>
        <p:nvSpPr>
          <p:cNvPr id="1706146395" name="TextBox 20"/>
          <p:cNvSpPr txBox="1"/>
          <p:nvPr/>
        </p:nvSpPr>
        <p:spPr bwMode="auto">
          <a:xfrm>
            <a:off x="5303520" y="2880360"/>
            <a:ext cx="1792582" cy="677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94A3B8"/>
                </a:solidFill>
                <a:latin typeface="Aptos"/>
              </a:rPr>
              <a:t>Check approved business</a:t>
            </a:r>
            <a:br>
              <a:rPr sz="1400" b="0" i="0">
                <a:solidFill>
                  <a:srgbClr val="94A3B8"/>
                </a:solidFill>
                <a:latin typeface="Aptos"/>
              </a:rPr>
            </a:br>
            <a:r>
              <a:rPr sz="1400" b="0" i="0">
                <a:solidFill>
                  <a:srgbClr val="94A3B8"/>
                </a:solidFill>
                <a:latin typeface="Aptos"/>
              </a:rPr>
              <a:t>catalogs and policies</a:t>
            </a:r>
            <a:endParaRPr sz="1400"/>
          </a:p>
        </p:txBody>
      </p:sp>
      <p:sp>
        <p:nvSpPr>
          <p:cNvPr id="232074784" name="TextBox 21"/>
          <p:cNvSpPr txBox="1"/>
          <p:nvPr/>
        </p:nvSpPr>
        <p:spPr bwMode="auto">
          <a:xfrm>
            <a:off x="7255764" y="2551176"/>
            <a:ext cx="182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sz="2300" b="1" i="0">
                <a:solidFill>
                  <a:srgbClr val="6366F1"/>
                </a:solidFill>
                <a:latin typeface="Aptos"/>
              </a:rPr>
              <a:t>›</a:t>
            </a:r>
            <a:endParaRPr/>
          </a:p>
        </p:txBody>
      </p:sp>
      <p:sp>
        <p:nvSpPr>
          <p:cNvPr id="660870910" name="Rounded Rectangle 22"/>
          <p:cNvSpPr/>
          <p:nvPr/>
        </p:nvSpPr>
        <p:spPr bwMode="auto">
          <a:xfrm>
            <a:off x="7424927" y="1874519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7736767" name="TextBox 23"/>
          <p:cNvSpPr txBox="1"/>
          <p:nvPr/>
        </p:nvSpPr>
        <p:spPr bwMode="auto">
          <a:xfrm>
            <a:off x="7589519" y="2039112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100" b="1" i="0">
                <a:solidFill>
                  <a:srgbClr val="6366F1"/>
                </a:solidFill>
                <a:latin typeface="Aptos"/>
              </a:rPr>
              <a:t>04</a:t>
            </a:r>
            <a:endParaRPr/>
          </a:p>
        </p:txBody>
      </p:sp>
      <p:sp>
        <p:nvSpPr>
          <p:cNvPr id="1448617013" name="TextBox 24"/>
          <p:cNvSpPr txBox="1"/>
          <p:nvPr/>
        </p:nvSpPr>
        <p:spPr bwMode="auto">
          <a:xfrm>
            <a:off x="7589519" y="2432303"/>
            <a:ext cx="1783079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700" b="1" i="0">
                <a:solidFill>
                  <a:srgbClr val="F8FAFC"/>
                </a:solidFill>
                <a:latin typeface="Aptos"/>
              </a:rPr>
              <a:t>GOVERN</a:t>
            </a:r>
            <a:endParaRPr/>
          </a:p>
        </p:txBody>
      </p:sp>
      <p:sp>
        <p:nvSpPr>
          <p:cNvPr id="1748426352" name="TextBox 25"/>
          <p:cNvSpPr txBox="1"/>
          <p:nvPr/>
        </p:nvSpPr>
        <p:spPr bwMode="auto">
          <a:xfrm>
            <a:off x="7589518" y="2880360"/>
            <a:ext cx="1792582" cy="677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94A3B8"/>
                </a:solidFill>
                <a:latin typeface="Aptos"/>
              </a:rPr>
              <a:t>Apply tenant rules;</a:t>
            </a:r>
            <a:br>
              <a:rPr sz="1400" b="0" i="0">
                <a:solidFill>
                  <a:srgbClr val="94A3B8"/>
                </a:solidFill>
                <a:latin typeface="Aptos"/>
              </a:rPr>
            </a:br>
            <a:r>
              <a:rPr sz="1400" b="0" i="0">
                <a:solidFill>
                  <a:srgbClr val="94A3B8"/>
                </a:solidFill>
                <a:latin typeface="Aptos"/>
              </a:rPr>
              <a:t>flag risk and uncertainty</a:t>
            </a:r>
            <a:endParaRPr sz="1400"/>
          </a:p>
        </p:txBody>
      </p:sp>
      <p:sp>
        <p:nvSpPr>
          <p:cNvPr id="368033072" name="TextBox 26"/>
          <p:cNvSpPr txBox="1"/>
          <p:nvPr/>
        </p:nvSpPr>
        <p:spPr bwMode="auto">
          <a:xfrm>
            <a:off x="9541763" y="2551176"/>
            <a:ext cx="182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sz="2300" b="1" i="0">
                <a:solidFill>
                  <a:srgbClr val="6366F1"/>
                </a:solidFill>
                <a:latin typeface="Aptos"/>
              </a:rPr>
              <a:t>›</a:t>
            </a:r>
            <a:endParaRPr/>
          </a:p>
        </p:txBody>
      </p:sp>
      <p:sp>
        <p:nvSpPr>
          <p:cNvPr id="26769000" name="Rounded Rectangle 27"/>
          <p:cNvSpPr/>
          <p:nvPr/>
        </p:nvSpPr>
        <p:spPr bwMode="auto">
          <a:xfrm>
            <a:off x="9710928" y="1874519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8991208" name="TextBox 28"/>
          <p:cNvSpPr txBox="1"/>
          <p:nvPr/>
        </p:nvSpPr>
        <p:spPr bwMode="auto">
          <a:xfrm>
            <a:off x="9875519" y="2039112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100" b="1" i="0">
                <a:solidFill>
                  <a:srgbClr val="10B981"/>
                </a:solidFill>
                <a:latin typeface="Aptos"/>
              </a:rPr>
              <a:t>05</a:t>
            </a:r>
            <a:endParaRPr/>
          </a:p>
        </p:txBody>
      </p:sp>
      <p:sp>
        <p:nvSpPr>
          <p:cNvPr id="1958411682" name="TextBox 29"/>
          <p:cNvSpPr txBox="1"/>
          <p:nvPr/>
        </p:nvSpPr>
        <p:spPr bwMode="auto">
          <a:xfrm>
            <a:off x="9875519" y="2432303"/>
            <a:ext cx="1783079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700" b="1" i="0">
                <a:solidFill>
                  <a:srgbClr val="F8FAFC"/>
                </a:solidFill>
                <a:latin typeface="Aptos"/>
              </a:rPr>
              <a:t>ACT</a:t>
            </a:r>
            <a:endParaRPr/>
          </a:p>
        </p:txBody>
      </p:sp>
      <p:sp>
        <p:nvSpPr>
          <p:cNvPr id="1115409326" name="TextBox 30"/>
          <p:cNvSpPr txBox="1"/>
          <p:nvPr/>
        </p:nvSpPr>
        <p:spPr bwMode="auto">
          <a:xfrm>
            <a:off x="9875518" y="2880360"/>
            <a:ext cx="1792582" cy="463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94A3B8"/>
                </a:solidFill>
                <a:latin typeface="Aptos"/>
              </a:rPr>
              <a:t>Reply, route privately,</a:t>
            </a:r>
            <a:br>
              <a:rPr sz="1400" b="0" i="0">
                <a:solidFill>
                  <a:srgbClr val="94A3B8"/>
                </a:solidFill>
                <a:latin typeface="Aptos"/>
              </a:rPr>
            </a:br>
            <a:r>
              <a:rPr sz="1400" b="0" i="0">
                <a:solidFill>
                  <a:srgbClr val="94A3B8"/>
                </a:solidFill>
                <a:latin typeface="Aptos"/>
              </a:rPr>
              <a:t>or escalate to staff</a:t>
            </a:r>
            <a:endParaRPr sz="1400"/>
          </a:p>
        </p:txBody>
      </p:sp>
      <p:sp>
        <p:nvSpPr>
          <p:cNvPr id="1586988226" name="Rounded Rectangle 31"/>
          <p:cNvSpPr/>
          <p:nvPr/>
        </p:nvSpPr>
        <p:spPr bwMode="auto">
          <a:xfrm>
            <a:off x="566928" y="4096512"/>
            <a:ext cx="3520440" cy="1417320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2763974" name="Rectangle 32"/>
          <p:cNvSpPr/>
          <p:nvPr/>
        </p:nvSpPr>
        <p:spPr bwMode="auto">
          <a:xfrm>
            <a:off x="566928" y="4096512"/>
            <a:ext cx="50292" cy="1417320"/>
          </a:xfrm>
          <a:prstGeom prst="rect">
            <a:avLst/>
          </a:prstGeom>
          <a:solidFill>
            <a:srgbClr val="10B98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2125160" name="TextBox 33"/>
          <p:cNvSpPr txBox="1"/>
          <p:nvPr/>
        </p:nvSpPr>
        <p:spPr bwMode="auto">
          <a:xfrm>
            <a:off x="749808" y="4224528"/>
            <a:ext cx="3191616" cy="2350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300" b="1" i="0">
                <a:solidFill>
                  <a:srgbClr val="10B981"/>
                </a:solidFill>
                <a:latin typeface="Aptos"/>
              </a:rPr>
              <a:t>FOR CUSTOMERS</a:t>
            </a:r>
            <a:endParaRPr sz="1300"/>
          </a:p>
        </p:txBody>
      </p:sp>
      <p:sp>
        <p:nvSpPr>
          <p:cNvPr id="888559550" name="TextBox 34"/>
          <p:cNvSpPr txBox="1"/>
          <p:nvPr/>
        </p:nvSpPr>
        <p:spPr bwMode="auto">
          <a:xfrm>
            <a:off x="749808" y="4480560"/>
            <a:ext cx="319125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600" b="1" i="0">
                <a:solidFill>
                  <a:srgbClr val="F8FAFC"/>
                </a:solidFill>
                <a:latin typeface="Aptos"/>
              </a:rPr>
              <a:t>Relevant answers</a:t>
            </a:r>
            <a:endParaRPr/>
          </a:p>
        </p:txBody>
      </p:sp>
      <p:sp>
        <p:nvSpPr>
          <p:cNvPr id="2004115957" name="TextBox 35"/>
          <p:cNvSpPr txBox="1"/>
          <p:nvPr/>
        </p:nvSpPr>
        <p:spPr bwMode="auto">
          <a:xfrm>
            <a:off x="749808" y="4882896"/>
            <a:ext cx="3173328" cy="463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94A3B8"/>
                </a:solidFill>
                <a:latin typeface="Aptos"/>
              </a:rPr>
              <a:t>Use business-approved information instead of generic, off-context replies.</a:t>
            </a:r>
            <a:endParaRPr sz="1400"/>
          </a:p>
        </p:txBody>
      </p:sp>
      <p:sp>
        <p:nvSpPr>
          <p:cNvPr id="456318215" name="Rounded Rectangle 36"/>
          <p:cNvSpPr/>
          <p:nvPr/>
        </p:nvSpPr>
        <p:spPr bwMode="auto">
          <a:xfrm>
            <a:off x="4325112" y="4096512"/>
            <a:ext cx="3520440" cy="1417320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2666096" name="Rectangle 37"/>
          <p:cNvSpPr/>
          <p:nvPr/>
        </p:nvSpPr>
        <p:spPr bwMode="auto">
          <a:xfrm>
            <a:off x="4325112" y="4096512"/>
            <a:ext cx="50292" cy="1417320"/>
          </a:xfrm>
          <a:prstGeom prst="rect">
            <a:avLst/>
          </a:prstGeom>
          <a:solidFill>
            <a:srgbClr val="6366F1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9779102" name="TextBox 38"/>
          <p:cNvSpPr txBox="1"/>
          <p:nvPr/>
        </p:nvSpPr>
        <p:spPr bwMode="auto">
          <a:xfrm>
            <a:off x="4507992" y="4224528"/>
            <a:ext cx="3191616" cy="2350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300" b="1" i="0">
                <a:solidFill>
                  <a:srgbClr val="6366F1"/>
                </a:solidFill>
                <a:latin typeface="Aptos"/>
              </a:rPr>
              <a:t>FOR REVENUE TEAMS</a:t>
            </a:r>
            <a:endParaRPr sz="1300"/>
          </a:p>
        </p:txBody>
      </p:sp>
      <p:sp>
        <p:nvSpPr>
          <p:cNvPr id="1124550588" name="TextBox 39"/>
          <p:cNvSpPr txBox="1"/>
          <p:nvPr/>
        </p:nvSpPr>
        <p:spPr bwMode="auto">
          <a:xfrm>
            <a:off x="4507992" y="4480560"/>
            <a:ext cx="319125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600" b="1" i="0">
                <a:solidFill>
                  <a:srgbClr val="F8FAFC"/>
                </a:solidFill>
                <a:latin typeface="Aptos"/>
              </a:rPr>
              <a:t>Recover intent</a:t>
            </a:r>
            <a:endParaRPr/>
          </a:p>
        </p:txBody>
      </p:sp>
      <p:sp>
        <p:nvSpPr>
          <p:cNvPr id="1266449493" name="TextBox 40"/>
          <p:cNvSpPr txBox="1"/>
          <p:nvPr/>
        </p:nvSpPr>
        <p:spPr bwMode="auto">
          <a:xfrm>
            <a:off x="4507992" y="4766737"/>
            <a:ext cx="3173328" cy="677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94A3B8"/>
                </a:solidFill>
                <a:latin typeface="Aptos"/>
              </a:rPr>
              <a:t>Separate prospects from noise and carry promising conversations into a traceable inbox.</a:t>
            </a:r>
            <a:endParaRPr sz="1400"/>
          </a:p>
        </p:txBody>
      </p:sp>
      <p:sp>
        <p:nvSpPr>
          <p:cNvPr id="1333259445" name="Rounded Rectangle 41"/>
          <p:cNvSpPr/>
          <p:nvPr/>
        </p:nvSpPr>
        <p:spPr bwMode="auto">
          <a:xfrm>
            <a:off x="8083296" y="4096512"/>
            <a:ext cx="3502152" cy="1417320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1215455" name="Rectangle 42"/>
          <p:cNvSpPr/>
          <p:nvPr/>
        </p:nvSpPr>
        <p:spPr bwMode="auto">
          <a:xfrm>
            <a:off x="8083296" y="4096512"/>
            <a:ext cx="50292" cy="1417320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0291481" name="TextBox 43"/>
          <p:cNvSpPr txBox="1"/>
          <p:nvPr/>
        </p:nvSpPr>
        <p:spPr bwMode="auto">
          <a:xfrm>
            <a:off x="8266174" y="4224528"/>
            <a:ext cx="3173328" cy="2350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300" b="1" i="0">
                <a:solidFill>
                  <a:srgbClr val="F59E0B"/>
                </a:solidFill>
                <a:latin typeface="Aptos"/>
              </a:rPr>
              <a:t>FOR OPERATIONS</a:t>
            </a:r>
            <a:endParaRPr sz="1300"/>
          </a:p>
        </p:txBody>
      </p:sp>
      <p:sp>
        <p:nvSpPr>
          <p:cNvPr id="1924354083" name="TextBox 44"/>
          <p:cNvSpPr txBox="1"/>
          <p:nvPr/>
        </p:nvSpPr>
        <p:spPr bwMode="auto">
          <a:xfrm>
            <a:off x="8266175" y="4480560"/>
            <a:ext cx="317296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600" b="1" i="0">
                <a:solidFill>
                  <a:srgbClr val="F8FAFC"/>
                </a:solidFill>
                <a:latin typeface="Aptos"/>
              </a:rPr>
              <a:t>Human control</a:t>
            </a:r>
            <a:endParaRPr/>
          </a:p>
        </p:txBody>
      </p:sp>
      <p:sp>
        <p:nvSpPr>
          <p:cNvPr id="378185125" name="TextBox 45"/>
          <p:cNvSpPr txBox="1"/>
          <p:nvPr/>
        </p:nvSpPr>
        <p:spPr bwMode="auto">
          <a:xfrm>
            <a:off x="8266174" y="4882896"/>
            <a:ext cx="3155040" cy="463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94A3B8"/>
                </a:solidFill>
                <a:latin typeface="Aptos"/>
              </a:rPr>
              <a:t>Escalation and staff takeover are already visible in the product UI.</a:t>
            </a:r>
            <a:endParaRPr sz="1400"/>
          </a:p>
        </p:txBody>
      </p:sp>
      <p:sp>
        <p:nvSpPr>
          <p:cNvPr id="126701345" name="TextBox 46"/>
          <p:cNvSpPr txBox="1"/>
          <p:nvPr/>
        </p:nvSpPr>
        <p:spPr bwMode="auto">
          <a:xfrm>
            <a:off x="640080" y="5852160"/>
            <a:ext cx="10790640" cy="3112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800" b="1" i="0">
                <a:solidFill>
                  <a:srgbClr val="DCE4F2"/>
                </a:solidFill>
                <a:latin typeface="Aptos"/>
              </a:rPr>
              <a:t>Why it matters: automate the routine work; preserve human judgment for the exceptions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0F1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795616" name="TextBox 1"/>
          <p:cNvSpPr txBox="1"/>
          <p:nvPr/>
        </p:nvSpPr>
        <p:spPr bwMode="auto">
          <a:xfrm>
            <a:off x="530352" y="292608"/>
            <a:ext cx="10881720" cy="49413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3000" b="1" i="0">
                <a:solidFill>
                  <a:srgbClr val="6366F1"/>
                </a:solidFill>
                <a:latin typeface="Aptos"/>
              </a:rPr>
              <a:t>04 / PRODUCT PROOF</a:t>
            </a:r>
            <a:endParaRPr sz="3000"/>
          </a:p>
        </p:txBody>
      </p:sp>
      <p:sp>
        <p:nvSpPr>
          <p:cNvPr id="1735091067" name="TextBox 2"/>
          <p:cNvSpPr txBox="1"/>
          <p:nvPr/>
        </p:nvSpPr>
        <p:spPr bwMode="auto">
          <a:xfrm>
            <a:off x="530352" y="832484"/>
            <a:ext cx="110642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2600" b="1" i="0">
                <a:solidFill>
                  <a:srgbClr val="F8FAFC"/>
                </a:solidFill>
                <a:latin typeface="Aptos"/>
              </a:rPr>
              <a:t>The product is visible: inbox, business context, and an audit trail.</a:t>
            </a:r>
            <a:endParaRPr/>
          </a:p>
        </p:txBody>
      </p:sp>
      <p:sp>
        <p:nvSpPr>
          <p:cNvPr id="866014623" name="TextBox 3"/>
          <p:cNvSpPr txBox="1"/>
          <p:nvPr/>
        </p:nvSpPr>
        <p:spPr bwMode="auto">
          <a:xfrm>
            <a:off x="548640" y="1234630"/>
            <a:ext cx="10973160" cy="2502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94A3B8"/>
                </a:solidFill>
                <a:latin typeface="Aptos"/>
              </a:rPr>
              <a:t>Current UI evidence from the ReplyFlow workspace—not mockups of a future interface.</a:t>
            </a:r>
            <a:endParaRPr sz="1400"/>
          </a:p>
        </p:txBody>
      </p:sp>
      <p:sp>
        <p:nvSpPr>
          <p:cNvPr id="182835850" name="Rectangle 4"/>
          <p:cNvSpPr/>
          <p:nvPr/>
        </p:nvSpPr>
        <p:spPr bwMode="auto">
          <a:xfrm>
            <a:off x="530352" y="6492240"/>
            <a:ext cx="11109960" cy="10972"/>
          </a:xfrm>
          <a:prstGeom prst="rect">
            <a:avLst/>
          </a:prstGeom>
          <a:solidFill>
            <a:srgbClr val="26334D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3817184" name="TextBox 5"/>
          <p:cNvSpPr txBox="1"/>
          <p:nvPr/>
        </p:nvSpPr>
        <p:spPr bwMode="auto"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800" b="0" i="0">
                <a:solidFill>
                  <a:srgbClr val="94A3B8"/>
                </a:solidFill>
                <a:latin typeface="Aptos"/>
              </a:rPr>
              <a:t>REPLYFLOW  •  OPEN AGENT HACKATHON 2026</a:t>
            </a:r>
            <a:endParaRPr/>
          </a:p>
        </p:txBody>
      </p:sp>
      <p:sp>
        <p:nvSpPr>
          <p:cNvPr id="2076841769" name="TextBox 6"/>
          <p:cNvSpPr txBox="1"/>
          <p:nvPr/>
        </p:nvSpPr>
        <p:spPr bwMode="auto">
          <a:xfrm>
            <a:off x="11137392" y="6519672"/>
            <a:ext cx="43891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/>
            </a:pPr>
            <a:r>
              <a:rPr sz="800" b="1" i="0">
                <a:solidFill>
                  <a:srgbClr val="94A3B8"/>
                </a:solidFill>
                <a:latin typeface="Aptos"/>
              </a:rPr>
              <a:t>04/08</a:t>
            </a:r>
            <a:endParaRPr/>
          </a:p>
        </p:txBody>
      </p:sp>
      <p:sp>
        <p:nvSpPr>
          <p:cNvPr id="533580497" name="Rounded Rectangle 7"/>
          <p:cNvSpPr/>
          <p:nvPr/>
        </p:nvSpPr>
        <p:spPr bwMode="auto">
          <a:xfrm>
            <a:off x="530352" y="1655063"/>
            <a:ext cx="6565392" cy="3502152"/>
          </a:xfrm>
          <a:prstGeom prst="roundRect">
            <a:avLst>
              <a:gd name="adj" fmla="val 12000"/>
            </a:avLst>
          </a:prstGeom>
          <a:solidFill>
            <a:srgbClr val="101827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67796006" name="Picture 8" descr="Screen Shot 2026-10-24 at 06.55.25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48918" y="1691640"/>
            <a:ext cx="5728259" cy="3429000"/>
          </a:xfrm>
          <a:prstGeom prst="rect">
            <a:avLst/>
          </a:prstGeom>
        </p:spPr>
      </p:pic>
      <p:sp>
        <p:nvSpPr>
          <p:cNvPr id="42389773" name="Rounded Rectangle 9"/>
          <p:cNvSpPr/>
          <p:nvPr/>
        </p:nvSpPr>
        <p:spPr bwMode="auto">
          <a:xfrm>
            <a:off x="7260336" y="1655063"/>
            <a:ext cx="4370832" cy="2066544"/>
          </a:xfrm>
          <a:prstGeom prst="roundRect">
            <a:avLst>
              <a:gd name="adj" fmla="val 12000"/>
            </a:avLst>
          </a:prstGeom>
          <a:solidFill>
            <a:srgbClr val="101827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08721045" name="Picture 10" descr="Screen Shot 2026-10-24 at 06.55.48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851038" y="1691640"/>
            <a:ext cx="3189427" cy="1993392"/>
          </a:xfrm>
          <a:prstGeom prst="rect">
            <a:avLst/>
          </a:prstGeom>
        </p:spPr>
      </p:pic>
      <p:sp>
        <p:nvSpPr>
          <p:cNvPr id="625348124" name="Rounded Rectangle 11"/>
          <p:cNvSpPr/>
          <p:nvPr/>
        </p:nvSpPr>
        <p:spPr bwMode="auto">
          <a:xfrm>
            <a:off x="7260336" y="3913632"/>
            <a:ext cx="4370832" cy="2066544"/>
          </a:xfrm>
          <a:prstGeom prst="roundRect">
            <a:avLst>
              <a:gd name="adj" fmla="val 12000"/>
            </a:avLst>
          </a:prstGeom>
          <a:solidFill>
            <a:srgbClr val="101827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52866276" name="Picture 12" descr="Screen Shot 2026-10-24 at 06.56.06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851038" y="3950208"/>
            <a:ext cx="3189427" cy="1993392"/>
          </a:xfrm>
          <a:prstGeom prst="rect">
            <a:avLst/>
          </a:prstGeom>
        </p:spPr>
      </p:pic>
      <p:sp>
        <p:nvSpPr>
          <p:cNvPr id="520239256" name="TextBox 13"/>
          <p:cNvSpPr txBox="1"/>
          <p:nvPr/>
        </p:nvSpPr>
        <p:spPr bwMode="auto">
          <a:xfrm>
            <a:off x="658368" y="5340096"/>
            <a:ext cx="63093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000" b="1" i="0">
                <a:solidFill>
                  <a:srgbClr val="6366F1"/>
                </a:solidFill>
                <a:latin typeface="Aptos"/>
              </a:rPr>
              <a:t>LIVE INBOX</a:t>
            </a:r>
            <a:endParaRPr/>
          </a:p>
        </p:txBody>
      </p:sp>
      <p:sp>
        <p:nvSpPr>
          <p:cNvPr id="2076635043" name="TextBox 14"/>
          <p:cNvSpPr txBox="1"/>
          <p:nvPr/>
        </p:nvSpPr>
        <p:spPr bwMode="auto">
          <a:xfrm>
            <a:off x="658368" y="5596128"/>
            <a:ext cx="630936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200" b="0" i="0">
                <a:solidFill>
                  <a:srgbClr val="DCE4F2"/>
                </a:solidFill>
                <a:latin typeface="Aptos"/>
              </a:rPr>
              <a:t>Channel-tagged threads, grounded AI replies, and human/operator controls.</a:t>
            </a:r>
            <a:endParaRPr/>
          </a:p>
        </p:txBody>
      </p:sp>
      <p:sp>
        <p:nvSpPr>
          <p:cNvPr id="1186980476" name="TextBox 15"/>
          <p:cNvSpPr txBox="1"/>
          <p:nvPr/>
        </p:nvSpPr>
        <p:spPr bwMode="auto">
          <a:xfrm>
            <a:off x="7370064" y="3703320"/>
            <a:ext cx="40233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00" b="1" i="0">
                <a:solidFill>
                  <a:srgbClr val="10B981"/>
                </a:solidFill>
                <a:latin typeface="Aptos"/>
              </a:rPr>
              <a:t>AUDIT &amp; LEARNING FARM</a:t>
            </a:r>
            <a:endParaRPr/>
          </a:p>
        </p:txBody>
      </p:sp>
      <p:sp>
        <p:nvSpPr>
          <p:cNvPr id="127506093" name="TextBox 16"/>
          <p:cNvSpPr txBox="1"/>
          <p:nvPr/>
        </p:nvSpPr>
        <p:spPr bwMode="auto">
          <a:xfrm>
            <a:off x="7370064" y="5989320"/>
            <a:ext cx="40233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00" b="1" i="0">
                <a:solidFill>
                  <a:srgbClr val="10B981"/>
                </a:solidFill>
                <a:latin typeface="Aptos"/>
              </a:rPr>
              <a:t>BUSINESS BRAIN / VERIFIED CATALOG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0F1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967690" name="TextBox 1"/>
          <p:cNvSpPr txBox="1"/>
          <p:nvPr/>
        </p:nvSpPr>
        <p:spPr bwMode="auto">
          <a:xfrm>
            <a:off x="530352" y="54482"/>
            <a:ext cx="10882079" cy="41793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2500" b="1" i="0">
                <a:solidFill>
                  <a:srgbClr val="6366F1"/>
                </a:solidFill>
                <a:latin typeface="Aptos"/>
              </a:rPr>
              <a:t>05 / AGENT WORKFLOW &amp; TECHNICAL STACK</a:t>
            </a:r>
            <a:endParaRPr sz="2500"/>
          </a:p>
        </p:txBody>
      </p:sp>
      <p:sp>
        <p:nvSpPr>
          <p:cNvPr id="1187679451" name="TextBox 2"/>
          <p:cNvSpPr txBox="1"/>
          <p:nvPr/>
        </p:nvSpPr>
        <p:spPr bwMode="auto">
          <a:xfrm>
            <a:off x="530352" y="594360"/>
            <a:ext cx="110642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2600" b="1" i="0">
                <a:solidFill>
                  <a:srgbClr val="F8FAFC"/>
                </a:solidFill>
                <a:latin typeface="Aptos"/>
              </a:rPr>
              <a:t>A governed workflow—not a single prompt.</a:t>
            </a:r>
            <a:endParaRPr/>
          </a:p>
        </p:txBody>
      </p:sp>
      <p:sp>
        <p:nvSpPr>
          <p:cNvPr id="1425313200" name="TextBox 3"/>
          <p:cNvSpPr txBox="1"/>
          <p:nvPr/>
        </p:nvSpPr>
        <p:spPr bwMode="auto">
          <a:xfrm>
            <a:off x="548640" y="1115568"/>
            <a:ext cx="10972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>
                <a:solidFill>
                  <a:srgbClr val="94A3B8"/>
                </a:solidFill>
                <a:latin typeface="Aptos"/>
              </a:rPr>
              <a:t>The agent moves through explicit steps before a message or action leaves the system.</a:t>
            </a:r>
            <a:endParaRPr/>
          </a:p>
        </p:txBody>
      </p:sp>
      <p:sp>
        <p:nvSpPr>
          <p:cNvPr id="1111421757" name="Rectangle 4"/>
          <p:cNvSpPr/>
          <p:nvPr/>
        </p:nvSpPr>
        <p:spPr bwMode="auto">
          <a:xfrm>
            <a:off x="530352" y="6492240"/>
            <a:ext cx="11109960" cy="10972"/>
          </a:xfrm>
          <a:prstGeom prst="rect">
            <a:avLst/>
          </a:prstGeom>
          <a:solidFill>
            <a:srgbClr val="26334D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189302" name="TextBox 5"/>
          <p:cNvSpPr txBox="1"/>
          <p:nvPr/>
        </p:nvSpPr>
        <p:spPr bwMode="auto"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800" b="0" i="0">
                <a:solidFill>
                  <a:srgbClr val="94A3B8"/>
                </a:solidFill>
                <a:latin typeface="Aptos"/>
              </a:rPr>
              <a:t>REPLYFLOW  •  OPEN AGENT HACKATHON 2026</a:t>
            </a:r>
            <a:endParaRPr/>
          </a:p>
        </p:txBody>
      </p:sp>
      <p:sp>
        <p:nvSpPr>
          <p:cNvPr id="1203039489" name="TextBox 6"/>
          <p:cNvSpPr txBox="1"/>
          <p:nvPr/>
        </p:nvSpPr>
        <p:spPr bwMode="auto">
          <a:xfrm>
            <a:off x="11137392" y="6519672"/>
            <a:ext cx="43891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/>
            </a:pPr>
            <a:r>
              <a:rPr sz="800" b="1" i="0">
                <a:solidFill>
                  <a:srgbClr val="94A3B8"/>
                </a:solidFill>
                <a:latin typeface="Aptos"/>
              </a:rPr>
              <a:t>05/08</a:t>
            </a:r>
            <a:endParaRPr/>
          </a:p>
        </p:txBody>
      </p:sp>
      <p:sp>
        <p:nvSpPr>
          <p:cNvPr id="203452692" name="Rounded Rectangle 7"/>
          <p:cNvSpPr/>
          <p:nvPr/>
        </p:nvSpPr>
        <p:spPr bwMode="auto">
          <a:xfrm>
            <a:off x="640080" y="1691640"/>
            <a:ext cx="6446520" cy="694944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9473694" name="Rectangle 8"/>
          <p:cNvSpPr/>
          <p:nvPr/>
        </p:nvSpPr>
        <p:spPr bwMode="auto">
          <a:xfrm>
            <a:off x="640080" y="1691640"/>
            <a:ext cx="64008" cy="694944"/>
          </a:xfrm>
          <a:prstGeom prst="rect">
            <a:avLst/>
          </a:prstGeom>
          <a:solidFill>
            <a:srgbClr val="6366F1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8389849" name="TextBox 9"/>
          <p:cNvSpPr txBox="1"/>
          <p:nvPr/>
        </p:nvSpPr>
        <p:spPr bwMode="auto">
          <a:xfrm>
            <a:off x="868680" y="1792224"/>
            <a:ext cx="2396088" cy="2350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300" b="1" i="0">
                <a:solidFill>
                  <a:srgbClr val="6366F1"/>
                </a:solidFill>
                <a:latin typeface="Aptos"/>
              </a:rPr>
              <a:t>OMNICHANNEL GATEWAY</a:t>
            </a:r>
            <a:endParaRPr sz="1300"/>
          </a:p>
        </p:txBody>
      </p:sp>
      <p:sp>
        <p:nvSpPr>
          <p:cNvPr id="247788635" name="TextBox 10"/>
          <p:cNvSpPr txBox="1"/>
          <p:nvPr/>
        </p:nvSpPr>
        <p:spPr bwMode="auto">
          <a:xfrm>
            <a:off x="3466147" y="1783080"/>
            <a:ext cx="3676246" cy="463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DCE4F2"/>
                </a:solidFill>
                <a:latin typeface="Aptos"/>
              </a:rPr>
              <a:t>Inbound messages / comments • webhook ingress</a:t>
            </a:r>
            <a:endParaRPr sz="1400"/>
          </a:p>
        </p:txBody>
      </p:sp>
      <p:sp>
        <p:nvSpPr>
          <p:cNvPr id="742124427" name="TextBox 11"/>
          <p:cNvSpPr txBox="1"/>
          <p:nvPr/>
        </p:nvSpPr>
        <p:spPr bwMode="auto">
          <a:xfrm>
            <a:off x="3969067" y="2368296"/>
            <a:ext cx="2743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sz="1300" b="1" i="0">
                <a:solidFill>
                  <a:srgbClr val="94A3B8"/>
                </a:solidFill>
                <a:latin typeface="Aptos"/>
              </a:rPr>
              <a:t>↓</a:t>
            </a:r>
            <a:endParaRPr/>
          </a:p>
        </p:txBody>
      </p:sp>
      <p:sp>
        <p:nvSpPr>
          <p:cNvPr id="202298686" name="Rounded Rectangle 12"/>
          <p:cNvSpPr/>
          <p:nvPr/>
        </p:nvSpPr>
        <p:spPr bwMode="auto">
          <a:xfrm>
            <a:off x="640080" y="2624328"/>
            <a:ext cx="6446520" cy="694944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1889137" name="Rectangle 13"/>
          <p:cNvSpPr/>
          <p:nvPr/>
        </p:nvSpPr>
        <p:spPr bwMode="auto">
          <a:xfrm>
            <a:off x="640080" y="2624328"/>
            <a:ext cx="64008" cy="694944"/>
          </a:xfrm>
          <a:prstGeom prst="rect">
            <a:avLst/>
          </a:prstGeom>
          <a:solidFill>
            <a:srgbClr val="10B98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3420907" name="TextBox 14"/>
          <p:cNvSpPr txBox="1"/>
          <p:nvPr/>
        </p:nvSpPr>
        <p:spPr bwMode="auto">
          <a:xfrm>
            <a:off x="868680" y="2724911"/>
            <a:ext cx="2396088" cy="2350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300" b="1" i="0">
                <a:solidFill>
                  <a:srgbClr val="10B981"/>
                </a:solidFill>
                <a:latin typeface="Aptos"/>
              </a:rPr>
              <a:t>TENANT RESOLUTION</a:t>
            </a:r>
            <a:endParaRPr sz="1300"/>
          </a:p>
        </p:txBody>
      </p:sp>
      <p:sp>
        <p:nvSpPr>
          <p:cNvPr id="1224465793" name="TextBox 15"/>
          <p:cNvSpPr txBox="1"/>
          <p:nvPr/>
        </p:nvSpPr>
        <p:spPr bwMode="auto">
          <a:xfrm>
            <a:off x="3406615" y="2715768"/>
            <a:ext cx="3676246" cy="463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DCE4F2"/>
                </a:solidFill>
                <a:latin typeface="Aptos"/>
              </a:rPr>
              <a:t>Business UUID context • PostgreSQL tenant scoping</a:t>
            </a:r>
            <a:endParaRPr sz="1400"/>
          </a:p>
        </p:txBody>
      </p:sp>
      <p:sp>
        <p:nvSpPr>
          <p:cNvPr id="27775818" name="TextBox 16"/>
          <p:cNvSpPr txBox="1"/>
          <p:nvPr/>
        </p:nvSpPr>
        <p:spPr bwMode="auto">
          <a:xfrm>
            <a:off x="3969067" y="3300984"/>
            <a:ext cx="2743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sz="1300" b="1" i="0">
                <a:solidFill>
                  <a:srgbClr val="94A3B8"/>
                </a:solidFill>
                <a:latin typeface="Aptos"/>
              </a:rPr>
              <a:t>↓</a:t>
            </a:r>
            <a:endParaRPr/>
          </a:p>
        </p:txBody>
      </p:sp>
      <p:sp>
        <p:nvSpPr>
          <p:cNvPr id="1816486706" name="Rounded Rectangle 17"/>
          <p:cNvSpPr/>
          <p:nvPr/>
        </p:nvSpPr>
        <p:spPr bwMode="auto">
          <a:xfrm>
            <a:off x="640080" y="3557016"/>
            <a:ext cx="6446520" cy="694944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4106901" name="Rectangle 18"/>
          <p:cNvSpPr/>
          <p:nvPr/>
        </p:nvSpPr>
        <p:spPr bwMode="auto">
          <a:xfrm>
            <a:off x="640080" y="3557016"/>
            <a:ext cx="64008" cy="694944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9056406" name="TextBox 19"/>
          <p:cNvSpPr txBox="1"/>
          <p:nvPr/>
        </p:nvSpPr>
        <p:spPr bwMode="auto">
          <a:xfrm flipH="0" flipV="0">
            <a:off x="868679" y="3657600"/>
            <a:ext cx="2744280" cy="2198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200" b="1" i="0">
                <a:solidFill>
                  <a:srgbClr val="F59E0B"/>
                </a:solidFill>
                <a:latin typeface="Aptos"/>
              </a:rPr>
              <a:t>LANGGRAPH AGENT PIPELINE</a:t>
            </a:r>
            <a:endParaRPr sz="1200"/>
          </a:p>
        </p:txBody>
      </p:sp>
      <p:sp>
        <p:nvSpPr>
          <p:cNvPr id="782939584" name="TextBox 20"/>
          <p:cNvSpPr txBox="1"/>
          <p:nvPr/>
        </p:nvSpPr>
        <p:spPr bwMode="auto">
          <a:xfrm>
            <a:off x="3347084" y="3648456"/>
            <a:ext cx="3676246" cy="463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DCE4F2"/>
                </a:solidFill>
                <a:latin typeface="Aptos"/>
              </a:rPr>
              <a:t>Intent → retrieve data → policy gate → response/action</a:t>
            </a:r>
            <a:endParaRPr sz="1400"/>
          </a:p>
        </p:txBody>
      </p:sp>
      <p:sp>
        <p:nvSpPr>
          <p:cNvPr id="999125273" name="TextBox 21"/>
          <p:cNvSpPr txBox="1"/>
          <p:nvPr/>
        </p:nvSpPr>
        <p:spPr bwMode="auto">
          <a:xfrm>
            <a:off x="3969067" y="4233672"/>
            <a:ext cx="2743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sz="1300" b="1" i="0">
                <a:solidFill>
                  <a:srgbClr val="94A3B8"/>
                </a:solidFill>
                <a:latin typeface="Aptos"/>
              </a:rPr>
              <a:t>↓</a:t>
            </a:r>
            <a:endParaRPr/>
          </a:p>
        </p:txBody>
      </p:sp>
      <p:sp>
        <p:nvSpPr>
          <p:cNvPr id="12852833" name="Rounded Rectangle 22"/>
          <p:cNvSpPr/>
          <p:nvPr/>
        </p:nvSpPr>
        <p:spPr bwMode="auto">
          <a:xfrm>
            <a:off x="640080" y="4489704"/>
            <a:ext cx="6446520" cy="694944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2847954" name="Rectangle 23"/>
          <p:cNvSpPr/>
          <p:nvPr/>
        </p:nvSpPr>
        <p:spPr bwMode="auto">
          <a:xfrm>
            <a:off x="640080" y="4489704"/>
            <a:ext cx="64008" cy="694944"/>
          </a:xfrm>
          <a:prstGeom prst="rect">
            <a:avLst/>
          </a:prstGeom>
          <a:solidFill>
            <a:srgbClr val="10B98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9280283" name="TextBox 24"/>
          <p:cNvSpPr txBox="1"/>
          <p:nvPr/>
        </p:nvSpPr>
        <p:spPr bwMode="auto">
          <a:xfrm>
            <a:off x="868680" y="4590288"/>
            <a:ext cx="2396088" cy="2350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300" b="1" i="0">
                <a:solidFill>
                  <a:srgbClr val="10B981"/>
                </a:solidFill>
                <a:latin typeface="Aptos"/>
              </a:rPr>
              <a:t>DISPATCH OR ESCALATE</a:t>
            </a:r>
            <a:endParaRPr sz="1300"/>
          </a:p>
        </p:txBody>
      </p:sp>
      <p:sp>
        <p:nvSpPr>
          <p:cNvPr id="29648793" name="TextBox 25"/>
          <p:cNvSpPr txBox="1"/>
          <p:nvPr/>
        </p:nvSpPr>
        <p:spPr bwMode="auto">
          <a:xfrm>
            <a:off x="3466147" y="4581144"/>
            <a:ext cx="3676246" cy="463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DCE4F2"/>
                </a:solidFill>
                <a:latin typeface="Aptos"/>
              </a:rPr>
              <a:t>Send reply / route to private thread / staff takeover</a:t>
            </a:r>
            <a:endParaRPr sz="1400"/>
          </a:p>
        </p:txBody>
      </p:sp>
      <p:sp>
        <p:nvSpPr>
          <p:cNvPr id="360298246" name="Rounded Rectangle 26"/>
          <p:cNvSpPr/>
          <p:nvPr/>
        </p:nvSpPr>
        <p:spPr bwMode="auto">
          <a:xfrm>
            <a:off x="7406640" y="1691640"/>
            <a:ext cx="4160519" cy="4407408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5744637" name="TextBox 27"/>
          <p:cNvSpPr txBox="1"/>
          <p:nvPr/>
        </p:nvSpPr>
        <p:spPr bwMode="auto">
          <a:xfrm>
            <a:off x="7680960" y="1920240"/>
            <a:ext cx="3612240" cy="2502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1" i="0">
                <a:solidFill>
                  <a:srgbClr val="6366F1"/>
                </a:solidFill>
                <a:latin typeface="Aptos"/>
              </a:rPr>
              <a:t>TECHNICAL FOUNDATION</a:t>
            </a:r>
            <a:endParaRPr sz="1400"/>
          </a:p>
        </p:txBody>
      </p:sp>
      <p:sp>
        <p:nvSpPr>
          <p:cNvPr id="208563599" name="TextBox 28"/>
          <p:cNvSpPr txBox="1"/>
          <p:nvPr/>
        </p:nvSpPr>
        <p:spPr bwMode="auto">
          <a:xfrm>
            <a:off x="7699248" y="2395728"/>
            <a:ext cx="3457152" cy="2807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600" b="1" i="0">
                <a:solidFill>
                  <a:srgbClr val="F8FAFC"/>
                </a:solidFill>
                <a:latin typeface="Aptos"/>
              </a:rPr>
              <a:t>API &amp; orchestration</a:t>
            </a:r>
            <a:endParaRPr sz="1600"/>
          </a:p>
        </p:txBody>
      </p:sp>
      <p:sp>
        <p:nvSpPr>
          <p:cNvPr id="1281632969" name="TextBox 29"/>
          <p:cNvSpPr txBox="1"/>
          <p:nvPr/>
        </p:nvSpPr>
        <p:spPr bwMode="auto">
          <a:xfrm>
            <a:off x="7699248" y="2596896"/>
            <a:ext cx="3475080" cy="2350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>
                <a:solidFill>
                  <a:srgbClr val="94A3B8"/>
                </a:solidFill>
                <a:latin typeface="Aptos"/>
              </a:rPr>
              <a:t>Python 3.13 • FastAPI • LangGraph</a:t>
            </a:r>
            <a:endParaRPr sz="1300"/>
          </a:p>
        </p:txBody>
      </p:sp>
      <p:sp>
        <p:nvSpPr>
          <p:cNvPr id="317693224" name="TextBox 30"/>
          <p:cNvSpPr txBox="1"/>
          <p:nvPr/>
        </p:nvSpPr>
        <p:spPr bwMode="auto">
          <a:xfrm>
            <a:off x="7699248" y="2916936"/>
            <a:ext cx="3456792" cy="2807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600" b="1" i="0">
                <a:solidFill>
                  <a:srgbClr val="F8FAFC"/>
                </a:solidFill>
                <a:latin typeface="Aptos"/>
              </a:rPr>
              <a:t>Client portals</a:t>
            </a:r>
            <a:endParaRPr sz="1600"/>
          </a:p>
        </p:txBody>
      </p:sp>
      <p:sp>
        <p:nvSpPr>
          <p:cNvPr id="1855096024" name="TextBox 31"/>
          <p:cNvSpPr txBox="1"/>
          <p:nvPr/>
        </p:nvSpPr>
        <p:spPr bwMode="auto">
          <a:xfrm>
            <a:off x="7699248" y="3118104"/>
            <a:ext cx="3475080" cy="2350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>
                <a:solidFill>
                  <a:srgbClr val="94A3B8"/>
                </a:solidFill>
                <a:latin typeface="Aptos"/>
              </a:rPr>
              <a:t>Next.js 16</a:t>
            </a:r>
            <a:endParaRPr sz="1300"/>
          </a:p>
        </p:txBody>
      </p:sp>
      <p:sp>
        <p:nvSpPr>
          <p:cNvPr id="996607791" name="TextBox 32"/>
          <p:cNvSpPr txBox="1"/>
          <p:nvPr/>
        </p:nvSpPr>
        <p:spPr bwMode="auto">
          <a:xfrm>
            <a:off x="7699248" y="3438144"/>
            <a:ext cx="3456792" cy="2807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600" b="1" i="0">
                <a:solidFill>
                  <a:srgbClr val="F8FAFC"/>
                </a:solidFill>
                <a:latin typeface="Aptos"/>
              </a:rPr>
              <a:t>Persistence &amp; isolation</a:t>
            </a:r>
            <a:endParaRPr sz="1600"/>
          </a:p>
        </p:txBody>
      </p:sp>
      <p:sp>
        <p:nvSpPr>
          <p:cNvPr id="895258493" name="TextBox 33"/>
          <p:cNvSpPr txBox="1"/>
          <p:nvPr/>
        </p:nvSpPr>
        <p:spPr bwMode="auto">
          <a:xfrm>
            <a:off x="7699248" y="3639312"/>
            <a:ext cx="3475080" cy="2350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>
                <a:solidFill>
                  <a:srgbClr val="94A3B8"/>
                </a:solidFill>
                <a:latin typeface="Aptos"/>
              </a:rPr>
              <a:t>PostgreSQL 16 • tenant-scoped queries / RLS</a:t>
            </a:r>
            <a:endParaRPr sz="1300"/>
          </a:p>
        </p:txBody>
      </p:sp>
      <p:sp>
        <p:nvSpPr>
          <p:cNvPr id="963842400" name="TextBox 34"/>
          <p:cNvSpPr txBox="1"/>
          <p:nvPr/>
        </p:nvSpPr>
        <p:spPr bwMode="auto">
          <a:xfrm>
            <a:off x="7699248" y="3959352"/>
            <a:ext cx="3456792" cy="2807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600" b="1" i="0">
                <a:solidFill>
                  <a:srgbClr val="F8FAFC"/>
                </a:solidFill>
                <a:latin typeface="Aptos"/>
              </a:rPr>
              <a:t>Business grounding</a:t>
            </a:r>
            <a:endParaRPr sz="1600"/>
          </a:p>
        </p:txBody>
      </p:sp>
      <p:sp>
        <p:nvSpPr>
          <p:cNvPr id="820012295" name="TextBox 35"/>
          <p:cNvSpPr txBox="1"/>
          <p:nvPr/>
        </p:nvSpPr>
        <p:spPr bwMode="auto">
          <a:xfrm>
            <a:off x="7699248" y="4160519"/>
            <a:ext cx="3475080" cy="2350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>
                <a:solidFill>
                  <a:srgbClr val="94A3B8"/>
                </a:solidFill>
                <a:latin typeface="Aptos"/>
              </a:rPr>
              <a:t>Zetaris MCP data-fabric connector</a:t>
            </a:r>
            <a:endParaRPr sz="1300"/>
          </a:p>
        </p:txBody>
      </p:sp>
      <p:sp>
        <p:nvSpPr>
          <p:cNvPr id="219940978" name="TextBox 36"/>
          <p:cNvSpPr txBox="1"/>
          <p:nvPr/>
        </p:nvSpPr>
        <p:spPr bwMode="auto">
          <a:xfrm>
            <a:off x="7699248" y="4480560"/>
            <a:ext cx="3456792" cy="2807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600" b="1" i="0">
                <a:solidFill>
                  <a:srgbClr val="F8FAFC"/>
                </a:solidFill>
                <a:latin typeface="Aptos"/>
              </a:rPr>
              <a:t>Governance</a:t>
            </a:r>
            <a:endParaRPr/>
          </a:p>
        </p:txBody>
      </p:sp>
      <p:sp>
        <p:nvSpPr>
          <p:cNvPr id="611098757" name="TextBox 37"/>
          <p:cNvSpPr txBox="1"/>
          <p:nvPr/>
        </p:nvSpPr>
        <p:spPr bwMode="auto">
          <a:xfrm>
            <a:off x="7699248" y="4681728"/>
            <a:ext cx="3475080" cy="2350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>
                <a:solidFill>
                  <a:srgbClr val="94A3B8"/>
                </a:solidFill>
                <a:latin typeface="Aptos"/>
              </a:rPr>
              <a:t>Policy gate + human escalation</a:t>
            </a:r>
            <a:endParaRPr sz="1300"/>
          </a:p>
        </p:txBody>
      </p:sp>
      <p:sp>
        <p:nvSpPr>
          <p:cNvPr id="560919463" name="TextBox 38"/>
          <p:cNvSpPr txBox="1"/>
          <p:nvPr/>
        </p:nvSpPr>
        <p:spPr bwMode="auto">
          <a:xfrm>
            <a:off x="7699248" y="5001767"/>
            <a:ext cx="3456792" cy="2807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600" b="1" i="0">
                <a:solidFill>
                  <a:srgbClr val="F8FAFC"/>
                </a:solidFill>
                <a:latin typeface="Aptos"/>
              </a:rPr>
              <a:t>Usage controls</a:t>
            </a:r>
            <a:endParaRPr sz="1600"/>
          </a:p>
        </p:txBody>
      </p:sp>
      <p:sp>
        <p:nvSpPr>
          <p:cNvPr id="2004898087" name="TextBox 39"/>
          <p:cNvSpPr txBox="1"/>
          <p:nvPr/>
        </p:nvSpPr>
        <p:spPr bwMode="auto">
          <a:xfrm>
            <a:off x="7699248" y="5202936"/>
            <a:ext cx="3475080" cy="2350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>
                <a:solidFill>
                  <a:srgbClr val="94A3B8"/>
                </a:solidFill>
                <a:latin typeface="Aptos"/>
              </a:rPr>
              <a:t>Meterless quota service integration scaffold</a:t>
            </a:r>
            <a:endParaRPr sz="1300"/>
          </a:p>
        </p:txBody>
      </p:sp>
      <p:sp>
        <p:nvSpPr>
          <p:cNvPr id="1376029969" name="TextBox 40"/>
          <p:cNvSpPr txBox="1"/>
          <p:nvPr/>
        </p:nvSpPr>
        <p:spPr bwMode="auto">
          <a:xfrm>
            <a:off x="685800" y="5669279"/>
            <a:ext cx="6401160" cy="463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1" i="0">
                <a:solidFill>
                  <a:srgbClr val="F59E0B"/>
                </a:solidFill>
                <a:latin typeface="Aptos"/>
              </a:rPr>
              <a:t>Key design principle: tenant context and policy checks must travel with the conversation.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0F1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126446" name="TextBox 1"/>
          <p:cNvSpPr txBox="1"/>
          <p:nvPr/>
        </p:nvSpPr>
        <p:spPr bwMode="auto">
          <a:xfrm>
            <a:off x="530352" y="233076"/>
            <a:ext cx="10881720" cy="41793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2500" b="1" i="0">
                <a:solidFill>
                  <a:srgbClr val="6366F1"/>
                </a:solidFill>
                <a:latin typeface="Aptos"/>
              </a:rPr>
              <a:t>06 / SPONSOR TECHNOLOGY</a:t>
            </a:r>
            <a:endParaRPr sz="2500"/>
          </a:p>
        </p:txBody>
      </p:sp>
      <p:sp>
        <p:nvSpPr>
          <p:cNvPr id="184017957" name="TextBox 2"/>
          <p:cNvSpPr txBox="1"/>
          <p:nvPr/>
        </p:nvSpPr>
        <p:spPr bwMode="auto">
          <a:xfrm>
            <a:off x="530352" y="653891"/>
            <a:ext cx="110642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/>
            </a:pPr>
            <a:r>
              <a:rPr sz="2600" b="1">
                <a:solidFill>
                  <a:srgbClr val="F8FAFC"/>
                </a:solidFill>
                <a:latin typeface="Aptos Display"/>
              </a:rPr>
              <a:t>Grounded data + governed autonomy.</a:t>
            </a:r>
            <a:endParaRPr/>
          </a:p>
        </p:txBody>
      </p:sp>
      <p:sp>
        <p:nvSpPr>
          <p:cNvPr id="1130097491" name="TextBox 3"/>
          <p:cNvSpPr txBox="1"/>
          <p:nvPr/>
        </p:nvSpPr>
        <p:spPr bwMode="auto">
          <a:xfrm>
            <a:off x="548640" y="1234630"/>
            <a:ext cx="10972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>
                <a:solidFill>
                  <a:srgbClr val="94A3B8"/>
                </a:solidFill>
                <a:latin typeface="Aptos"/>
              </a:rPr>
              <a:t>Clear separation between integrated components and components still awaiting workshop credentials.</a:t>
            </a:r>
            <a:endParaRPr/>
          </a:p>
        </p:txBody>
      </p:sp>
      <p:sp>
        <p:nvSpPr>
          <p:cNvPr id="458916578" name="Rectangle 4"/>
          <p:cNvSpPr/>
          <p:nvPr/>
        </p:nvSpPr>
        <p:spPr bwMode="auto">
          <a:xfrm>
            <a:off x="530352" y="6492240"/>
            <a:ext cx="11109960" cy="10972"/>
          </a:xfrm>
          <a:prstGeom prst="rect">
            <a:avLst/>
          </a:prstGeom>
          <a:solidFill>
            <a:srgbClr val="26334D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6384917" name="TextBox 5"/>
          <p:cNvSpPr txBox="1"/>
          <p:nvPr/>
        </p:nvSpPr>
        <p:spPr bwMode="auto"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800" b="0" i="0">
                <a:solidFill>
                  <a:srgbClr val="94A3B8"/>
                </a:solidFill>
                <a:latin typeface="Aptos"/>
              </a:rPr>
              <a:t>REPLYFLOW  •  OPEN AGENT HACKATHON 2026</a:t>
            </a:r>
            <a:endParaRPr/>
          </a:p>
        </p:txBody>
      </p:sp>
      <p:sp>
        <p:nvSpPr>
          <p:cNvPr id="1083986539" name="TextBox 6"/>
          <p:cNvSpPr txBox="1"/>
          <p:nvPr/>
        </p:nvSpPr>
        <p:spPr bwMode="auto">
          <a:xfrm>
            <a:off x="11137392" y="6519672"/>
            <a:ext cx="43891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/>
            </a:pPr>
            <a:r>
              <a:rPr sz="800" b="1" i="0">
                <a:solidFill>
                  <a:srgbClr val="94A3B8"/>
                </a:solidFill>
                <a:latin typeface="Aptos"/>
              </a:rPr>
              <a:t>06/08</a:t>
            </a:r>
            <a:endParaRPr/>
          </a:p>
        </p:txBody>
      </p:sp>
      <p:sp>
        <p:nvSpPr>
          <p:cNvPr id="1262650891" name="Rounded Rectangle 7"/>
          <p:cNvSpPr/>
          <p:nvPr/>
        </p:nvSpPr>
        <p:spPr bwMode="auto">
          <a:xfrm>
            <a:off x="566928" y="1691640"/>
            <a:ext cx="5376672" cy="1517904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3697331" name="Rectangle 8"/>
          <p:cNvSpPr/>
          <p:nvPr/>
        </p:nvSpPr>
        <p:spPr bwMode="auto">
          <a:xfrm>
            <a:off x="566928" y="1691640"/>
            <a:ext cx="50292" cy="1517904"/>
          </a:xfrm>
          <a:prstGeom prst="rect">
            <a:avLst/>
          </a:prstGeom>
          <a:solidFill>
            <a:srgbClr val="10B98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1794915" name="TextBox 9"/>
          <p:cNvSpPr txBox="1"/>
          <p:nvPr/>
        </p:nvSpPr>
        <p:spPr bwMode="auto">
          <a:xfrm>
            <a:off x="749808" y="1819656"/>
            <a:ext cx="504748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00" b="1" i="0">
                <a:solidFill>
                  <a:srgbClr val="10B981"/>
                </a:solidFill>
                <a:latin typeface="Aptos"/>
              </a:rPr>
              <a:t>DATA FABRIC • INTEGRATED</a:t>
            </a:r>
            <a:endParaRPr/>
          </a:p>
        </p:txBody>
      </p:sp>
      <p:sp>
        <p:nvSpPr>
          <p:cNvPr id="925968759" name="TextBox 10"/>
          <p:cNvSpPr txBox="1"/>
          <p:nvPr/>
        </p:nvSpPr>
        <p:spPr bwMode="auto">
          <a:xfrm>
            <a:off x="749808" y="2016156"/>
            <a:ext cx="5047847" cy="3112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800" b="1" i="0">
                <a:solidFill>
                  <a:srgbClr val="F8FAFC"/>
                </a:solidFill>
                <a:latin typeface="Aptos"/>
              </a:rPr>
              <a:t>Zetaris</a:t>
            </a:r>
            <a:endParaRPr sz="1800"/>
          </a:p>
        </p:txBody>
      </p:sp>
      <p:sp>
        <p:nvSpPr>
          <p:cNvPr id="2111705024" name="TextBox 11"/>
          <p:cNvSpPr txBox="1"/>
          <p:nvPr/>
        </p:nvSpPr>
        <p:spPr bwMode="auto">
          <a:xfrm>
            <a:off x="749808" y="2418492"/>
            <a:ext cx="5029559" cy="677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94A3B8"/>
                </a:solidFill>
                <a:latin typeface="Aptos"/>
              </a:rPr>
              <a:t>MCP-connected data access layer intended to query fragmented business sources without copying them into a new central store. Value: answers grounded in operational data.</a:t>
            </a:r>
            <a:endParaRPr sz="1400"/>
          </a:p>
        </p:txBody>
      </p:sp>
      <p:sp>
        <p:nvSpPr>
          <p:cNvPr id="137437102" name="Rounded Rectangle 12"/>
          <p:cNvSpPr/>
          <p:nvPr/>
        </p:nvSpPr>
        <p:spPr bwMode="auto">
          <a:xfrm>
            <a:off x="6181344" y="1691640"/>
            <a:ext cx="5394960" cy="1517904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0804098" name="Rectangle 13"/>
          <p:cNvSpPr/>
          <p:nvPr/>
        </p:nvSpPr>
        <p:spPr bwMode="auto">
          <a:xfrm>
            <a:off x="6181344" y="1691640"/>
            <a:ext cx="50292" cy="1517904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0587805" name="TextBox 14"/>
          <p:cNvSpPr txBox="1"/>
          <p:nvPr/>
        </p:nvSpPr>
        <p:spPr bwMode="auto">
          <a:xfrm>
            <a:off x="6364224" y="1819656"/>
            <a:ext cx="5065776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00" b="1" i="0">
                <a:solidFill>
                  <a:srgbClr val="F59E0B"/>
                </a:solidFill>
                <a:latin typeface="Aptos"/>
              </a:rPr>
              <a:t>TOKEN GOVERNANCE • SCAFFOLDED</a:t>
            </a:r>
            <a:endParaRPr/>
          </a:p>
        </p:txBody>
      </p:sp>
      <p:sp>
        <p:nvSpPr>
          <p:cNvPr id="2049216901" name="TextBox 15"/>
          <p:cNvSpPr txBox="1"/>
          <p:nvPr/>
        </p:nvSpPr>
        <p:spPr bwMode="auto">
          <a:xfrm>
            <a:off x="6364224" y="2075688"/>
            <a:ext cx="5066136" cy="3112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800" b="1" i="0">
                <a:solidFill>
                  <a:srgbClr val="F8FAFC"/>
                </a:solidFill>
                <a:latin typeface="Aptos"/>
              </a:rPr>
              <a:t>Meterless</a:t>
            </a:r>
            <a:endParaRPr/>
          </a:p>
        </p:txBody>
      </p:sp>
      <p:sp>
        <p:nvSpPr>
          <p:cNvPr id="1703038595" name="TextBox 16"/>
          <p:cNvSpPr txBox="1"/>
          <p:nvPr/>
        </p:nvSpPr>
        <p:spPr bwMode="auto">
          <a:xfrm>
            <a:off x="6364224" y="2478024"/>
            <a:ext cx="5047847" cy="677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94A3B8"/>
                </a:solidFill>
                <a:latin typeface="Aptos"/>
              </a:rPr>
              <a:t>Quota service and LLM-provider hooks are present; workshop credentials are still required to validate live metering end-to-end.</a:t>
            </a:r>
            <a:endParaRPr sz="1400"/>
          </a:p>
        </p:txBody>
      </p:sp>
      <p:sp>
        <p:nvSpPr>
          <p:cNvPr id="483079468" name="Rounded Rectangle 17"/>
          <p:cNvSpPr/>
          <p:nvPr/>
        </p:nvSpPr>
        <p:spPr bwMode="auto">
          <a:xfrm>
            <a:off x="566928" y="3493008"/>
            <a:ext cx="5376672" cy="1517904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5898463" name="Rectangle 18"/>
          <p:cNvSpPr/>
          <p:nvPr/>
        </p:nvSpPr>
        <p:spPr bwMode="auto">
          <a:xfrm>
            <a:off x="566928" y="3493008"/>
            <a:ext cx="50292" cy="1517904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7439191" name="TextBox 19"/>
          <p:cNvSpPr txBox="1"/>
          <p:nvPr/>
        </p:nvSpPr>
        <p:spPr bwMode="auto">
          <a:xfrm>
            <a:off x="749808" y="3621024"/>
            <a:ext cx="504748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00" b="1" i="0">
                <a:solidFill>
                  <a:srgbClr val="F59E0B"/>
                </a:solidFill>
                <a:latin typeface="Aptos"/>
              </a:rPr>
              <a:t>SAFETY • SCAFFOLDED</a:t>
            </a:r>
            <a:endParaRPr/>
          </a:p>
        </p:txBody>
      </p:sp>
      <p:sp>
        <p:nvSpPr>
          <p:cNvPr id="1372407140" name="TextBox 20"/>
          <p:cNvSpPr txBox="1"/>
          <p:nvPr/>
        </p:nvSpPr>
        <p:spPr bwMode="auto">
          <a:xfrm>
            <a:off x="749808" y="3877056"/>
            <a:ext cx="5047847" cy="3112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800" b="1" i="0">
                <a:solidFill>
                  <a:srgbClr val="F8FAFC"/>
                </a:solidFill>
                <a:latin typeface="Aptos"/>
              </a:rPr>
              <a:t>NVIDIA</a:t>
            </a:r>
            <a:endParaRPr/>
          </a:p>
        </p:txBody>
      </p:sp>
      <p:sp>
        <p:nvSpPr>
          <p:cNvPr id="1206136082" name="TextBox 21"/>
          <p:cNvSpPr txBox="1"/>
          <p:nvPr/>
        </p:nvSpPr>
        <p:spPr bwMode="auto">
          <a:xfrm>
            <a:off x="749808" y="4219860"/>
            <a:ext cx="5029559" cy="677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94A3B8"/>
                </a:solidFill>
                <a:latin typeface="Aptos"/>
              </a:rPr>
              <a:t>Policy-gate integration points are present; live NIM / NeMo Guardrails behavior must be validated once the workshop key is available.</a:t>
            </a:r>
            <a:endParaRPr sz="1400"/>
          </a:p>
        </p:txBody>
      </p:sp>
      <p:sp>
        <p:nvSpPr>
          <p:cNvPr id="648116731" name="Rounded Rectangle 22"/>
          <p:cNvSpPr/>
          <p:nvPr/>
        </p:nvSpPr>
        <p:spPr bwMode="auto">
          <a:xfrm>
            <a:off x="6181344" y="3493008"/>
            <a:ext cx="5394960" cy="1517904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2320795" name="Rectangle 23"/>
          <p:cNvSpPr/>
          <p:nvPr/>
        </p:nvSpPr>
        <p:spPr bwMode="auto">
          <a:xfrm>
            <a:off x="6181344" y="3493008"/>
            <a:ext cx="50292" cy="1517904"/>
          </a:xfrm>
          <a:prstGeom prst="rect">
            <a:avLst/>
          </a:prstGeom>
          <a:solidFill>
            <a:srgbClr val="6366F1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8825404" name="TextBox 24"/>
          <p:cNvSpPr txBox="1"/>
          <p:nvPr/>
        </p:nvSpPr>
        <p:spPr bwMode="auto">
          <a:xfrm>
            <a:off x="6364224" y="3621024"/>
            <a:ext cx="5065776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00" b="1" i="0">
                <a:solidFill>
                  <a:srgbClr val="6366F1"/>
                </a:solidFill>
                <a:latin typeface="Aptos"/>
              </a:rPr>
              <a:t>DEVELOPMENT TOOL • ACTIVE</a:t>
            </a:r>
            <a:endParaRPr/>
          </a:p>
        </p:txBody>
      </p:sp>
      <p:sp>
        <p:nvSpPr>
          <p:cNvPr id="2124707222" name="TextBox 25"/>
          <p:cNvSpPr txBox="1"/>
          <p:nvPr/>
        </p:nvSpPr>
        <p:spPr bwMode="auto">
          <a:xfrm>
            <a:off x="6364224" y="3817524"/>
            <a:ext cx="5066136" cy="3112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800" b="1" i="0">
                <a:solidFill>
                  <a:srgbClr val="F8FAFC"/>
                </a:solidFill>
                <a:latin typeface="Aptos"/>
              </a:rPr>
              <a:t>Cursor</a:t>
            </a:r>
            <a:endParaRPr sz="1800"/>
          </a:p>
        </p:txBody>
      </p:sp>
      <p:sp>
        <p:nvSpPr>
          <p:cNvPr id="1051948948" name="TextBox 26"/>
          <p:cNvSpPr txBox="1"/>
          <p:nvPr/>
        </p:nvSpPr>
        <p:spPr bwMode="auto">
          <a:xfrm>
            <a:off x="6364224" y="4160329"/>
            <a:ext cx="5074127" cy="677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en" sz="1400" b="0" i="0">
                <a:solidFill>
                  <a:srgbClr val="94A3B8"/>
                </a:solidFill>
                <a:latin typeface="Aptos"/>
              </a:rPr>
              <a:t>Partially </a:t>
            </a:r>
            <a:r>
              <a:rPr lang="en" sz="1400" b="0" i="0">
                <a:solidFill>
                  <a:srgbClr val="94A3B8"/>
                </a:solidFill>
                <a:latin typeface="Aptos"/>
              </a:rPr>
              <a:t>u</a:t>
            </a:r>
            <a:r>
              <a:rPr sz="1400" b="0" i="0">
                <a:solidFill>
                  <a:srgbClr val="94A3B8"/>
                </a:solidFill>
                <a:latin typeface="Aptos"/>
              </a:rPr>
              <a:t>sed to accelerate full-stack implementation across FastAPI, Next.js, and database migrations; </a:t>
            </a:r>
            <a:r>
              <a:rPr lang="en" sz="1400" b="0" i="0">
                <a:solidFill>
                  <a:srgbClr val="94A3B8"/>
                </a:solidFill>
                <a:latin typeface="Aptos"/>
              </a:rPr>
              <a:t>Continues with other tools when i ran out of credit.</a:t>
            </a:r>
            <a:endParaRPr sz="1400"/>
          </a:p>
        </p:txBody>
      </p:sp>
      <p:sp>
        <p:nvSpPr>
          <p:cNvPr id="1378067721" name="TextBox 29"/>
          <p:cNvSpPr txBox="1"/>
          <p:nvPr/>
        </p:nvSpPr>
        <p:spPr bwMode="auto">
          <a:xfrm>
            <a:off x="2212848" y="5440680"/>
            <a:ext cx="8985887" cy="3112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424922690" name="TextBox 30"/>
          <p:cNvSpPr txBox="1"/>
          <p:nvPr/>
        </p:nvSpPr>
        <p:spPr bwMode="auto">
          <a:xfrm flipH="0" flipV="0">
            <a:off x="640079" y="5596308"/>
            <a:ext cx="10836720" cy="2502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1" i="0">
                <a:solidFill>
                  <a:srgbClr val="F8FAFC"/>
                </a:solidFill>
                <a:latin typeface="Aptos"/>
              </a:rPr>
              <a:t>Unique use: combine business-data grounding with per-tenant cost governance and a policy-controlled path to human review.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0F1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537053" name="TextBox 1"/>
          <p:cNvSpPr txBox="1"/>
          <p:nvPr/>
        </p:nvSpPr>
        <p:spPr bwMode="auto">
          <a:xfrm>
            <a:off x="530352" y="173545"/>
            <a:ext cx="10881720" cy="41793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2500" b="1" i="0">
                <a:solidFill>
                  <a:srgbClr val="6366F1"/>
                </a:solidFill>
                <a:latin typeface="Aptos"/>
              </a:rPr>
              <a:t>07 / BUSINESS MODEL &amp; DEPLOYMENT</a:t>
            </a:r>
            <a:endParaRPr sz="2500"/>
          </a:p>
        </p:txBody>
      </p:sp>
      <p:sp>
        <p:nvSpPr>
          <p:cNvPr id="76709998" name="TextBox 2"/>
          <p:cNvSpPr txBox="1"/>
          <p:nvPr/>
        </p:nvSpPr>
        <p:spPr bwMode="auto">
          <a:xfrm>
            <a:off x="530352" y="653891"/>
            <a:ext cx="11064599" cy="4331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/>
            </a:pPr>
            <a:r>
              <a:rPr sz="2600" b="1">
                <a:solidFill>
                  <a:srgbClr val="F8FAFC"/>
                </a:solidFill>
                <a:latin typeface="Aptos Display"/>
              </a:rPr>
              <a:t>Monetize recovered capacity—not AI replies</a:t>
            </a:r>
            <a:endParaRPr/>
          </a:p>
        </p:txBody>
      </p:sp>
      <p:sp>
        <p:nvSpPr>
          <p:cNvPr id="340493303" name="TextBox 3"/>
          <p:cNvSpPr txBox="1"/>
          <p:nvPr/>
        </p:nvSpPr>
        <p:spPr bwMode="auto">
          <a:xfrm>
            <a:off x="548640" y="1175099"/>
            <a:ext cx="10973160" cy="2502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94A3B8"/>
                </a:solidFill>
                <a:latin typeface="Aptos"/>
              </a:rPr>
              <a:t>Initial wedge: two contrasting client workflows already represented in the product UI.</a:t>
            </a:r>
            <a:endParaRPr sz="1400"/>
          </a:p>
        </p:txBody>
      </p:sp>
      <p:sp>
        <p:nvSpPr>
          <p:cNvPr id="1603183132" name="Rectangle 4"/>
          <p:cNvSpPr/>
          <p:nvPr/>
        </p:nvSpPr>
        <p:spPr bwMode="auto">
          <a:xfrm>
            <a:off x="530352" y="6492240"/>
            <a:ext cx="11109960" cy="10972"/>
          </a:xfrm>
          <a:prstGeom prst="rect">
            <a:avLst/>
          </a:prstGeom>
          <a:solidFill>
            <a:srgbClr val="26334D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9834097" name="TextBox 5"/>
          <p:cNvSpPr txBox="1"/>
          <p:nvPr/>
        </p:nvSpPr>
        <p:spPr bwMode="auto"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800" b="0" i="0">
                <a:solidFill>
                  <a:srgbClr val="94A3B8"/>
                </a:solidFill>
                <a:latin typeface="Aptos"/>
              </a:rPr>
              <a:t>REPLYFLOW  •  OPEN AGENT HACKATHON 2026</a:t>
            </a:r>
            <a:endParaRPr/>
          </a:p>
        </p:txBody>
      </p:sp>
      <p:sp>
        <p:nvSpPr>
          <p:cNvPr id="1335550085" name="TextBox 6"/>
          <p:cNvSpPr txBox="1"/>
          <p:nvPr/>
        </p:nvSpPr>
        <p:spPr bwMode="auto">
          <a:xfrm>
            <a:off x="11137392" y="6519672"/>
            <a:ext cx="43891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/>
            </a:pPr>
            <a:r>
              <a:rPr sz="800" b="1" i="0">
                <a:solidFill>
                  <a:srgbClr val="94A3B8"/>
                </a:solidFill>
                <a:latin typeface="Aptos"/>
              </a:rPr>
              <a:t>07/08</a:t>
            </a:r>
            <a:endParaRPr/>
          </a:p>
        </p:txBody>
      </p:sp>
      <p:sp>
        <p:nvSpPr>
          <p:cNvPr id="770665993" name="Rounded Rectangle 7"/>
          <p:cNvSpPr/>
          <p:nvPr/>
        </p:nvSpPr>
        <p:spPr bwMode="auto">
          <a:xfrm>
            <a:off x="566928" y="1682496"/>
            <a:ext cx="3703320" cy="4462272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000651" name="TextBox 8"/>
          <p:cNvSpPr txBox="1"/>
          <p:nvPr/>
        </p:nvSpPr>
        <p:spPr bwMode="auto">
          <a:xfrm>
            <a:off x="832104" y="1938528"/>
            <a:ext cx="31546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100" b="1" i="0">
                <a:solidFill>
                  <a:srgbClr val="6366F1"/>
                </a:solidFill>
                <a:latin typeface="Aptos"/>
              </a:rPr>
              <a:t>SAAS MODEL</a:t>
            </a:r>
            <a:endParaRPr/>
          </a:p>
        </p:txBody>
      </p:sp>
      <p:sp>
        <p:nvSpPr>
          <p:cNvPr id="1219994826" name="TextBox 9"/>
          <p:cNvSpPr txBox="1"/>
          <p:nvPr/>
        </p:nvSpPr>
        <p:spPr bwMode="auto">
          <a:xfrm>
            <a:off x="832104" y="2340864"/>
            <a:ext cx="3127248" cy="621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2200" b="1" i="0">
                <a:solidFill>
                  <a:srgbClr val="F8FAFC"/>
                </a:solidFill>
                <a:latin typeface="Aptos"/>
              </a:rPr>
              <a:t>Subscription by</a:t>
            </a:r>
            <a:br>
              <a:rPr sz="2200" b="1" i="0">
                <a:solidFill>
                  <a:srgbClr val="F8FAFC"/>
                </a:solidFill>
                <a:latin typeface="Aptos"/>
              </a:rPr>
            </a:br>
            <a:r>
              <a:rPr sz="2200" b="1" i="0">
                <a:solidFill>
                  <a:srgbClr val="F8FAFC"/>
                </a:solidFill>
                <a:latin typeface="Aptos"/>
              </a:rPr>
              <a:t>business + usage tier</a:t>
            </a:r>
            <a:endParaRPr/>
          </a:p>
        </p:txBody>
      </p:sp>
      <p:sp>
        <p:nvSpPr>
          <p:cNvPr id="1658505784" name="TextBox 10"/>
          <p:cNvSpPr txBox="1"/>
          <p:nvPr/>
        </p:nvSpPr>
        <p:spPr bwMode="auto">
          <a:xfrm>
            <a:off x="832104" y="3200400"/>
            <a:ext cx="3139127" cy="463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en" sz="1400" b="0" i="0">
                <a:solidFill>
                  <a:srgbClr val="94A3B8"/>
                </a:solidFill>
                <a:latin typeface="Aptos"/>
              </a:rPr>
              <a:t>Proposed Pricing for now: </a:t>
            </a:r>
            <a:r>
              <a:rPr sz="1400" b="0" i="0">
                <a:solidFill>
                  <a:srgbClr val="94A3B8"/>
                </a:solidFill>
                <a:latin typeface="Aptos"/>
              </a:rPr>
              <a:t> $29–$499/month across four tiers. </a:t>
            </a:r>
            <a:endParaRPr sz="1400"/>
          </a:p>
        </p:txBody>
      </p:sp>
      <p:sp>
        <p:nvSpPr>
          <p:cNvPr id="287105627" name="Rectangle 11"/>
          <p:cNvSpPr/>
          <p:nvPr/>
        </p:nvSpPr>
        <p:spPr bwMode="auto">
          <a:xfrm>
            <a:off x="832104" y="3757802"/>
            <a:ext cx="3127248" cy="10972"/>
          </a:xfrm>
          <a:prstGeom prst="rect">
            <a:avLst/>
          </a:prstGeom>
          <a:solidFill>
            <a:srgbClr val="26334D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2396788" name="TextBox 12"/>
          <p:cNvSpPr txBox="1"/>
          <p:nvPr/>
        </p:nvSpPr>
        <p:spPr bwMode="auto">
          <a:xfrm>
            <a:off x="832104" y="3908583"/>
            <a:ext cx="3127608" cy="2198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200" b="1" i="0">
                <a:solidFill>
                  <a:srgbClr val="10B981"/>
                </a:solidFill>
                <a:latin typeface="Aptos"/>
              </a:rPr>
              <a:t>COST CONTROL LEVERS</a:t>
            </a:r>
            <a:endParaRPr sz="1200"/>
          </a:p>
        </p:txBody>
      </p:sp>
      <p:sp>
        <p:nvSpPr>
          <p:cNvPr id="1289314977" name="TextBox 13"/>
          <p:cNvSpPr txBox="1"/>
          <p:nvPr/>
        </p:nvSpPr>
        <p:spPr bwMode="auto">
          <a:xfrm flipH="0" flipV="0">
            <a:off x="832103" y="4237767"/>
            <a:ext cx="3134088" cy="14237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217793" indent="-217793" algn="l">
              <a:spcBef>
                <a:spcPts val="0"/>
              </a:spcBef>
              <a:spcAft>
                <a:spcPts val="0"/>
              </a:spcAft>
              <a:buFont typeface="Wingdings"/>
              <a:buChar char="Ø"/>
              <a:defRPr/>
            </a:pPr>
            <a:r>
              <a:rPr sz="1300" b="0" i="0">
                <a:solidFill>
                  <a:srgbClr val="DCE4F2"/>
                </a:solidFill>
                <a:latin typeface="Aptos"/>
              </a:rPr>
              <a:t>Filter obvious noise before LLM calls</a:t>
            </a:r>
            <a:endParaRPr sz="1300" b="0" i="0">
              <a:solidFill>
                <a:srgbClr val="DCE4F2"/>
              </a:solidFill>
              <a:latin typeface="Aptos"/>
            </a:endParaRPr>
          </a:p>
          <a:p>
            <a:pPr marL="217793" indent="-217793" algn="l">
              <a:spcBef>
                <a:spcPts val="0"/>
              </a:spcBef>
              <a:spcAft>
                <a:spcPts val="0"/>
              </a:spcAft>
              <a:buFont typeface="Wingdings"/>
              <a:buChar char="Ø"/>
              <a:defRPr/>
            </a:pPr>
            <a:r>
              <a:rPr sz="1300" b="0" i="0">
                <a:solidFill>
                  <a:srgbClr val="DCE4F2"/>
                </a:solidFill>
                <a:latin typeface="Aptos"/>
              </a:rPr>
              <a:t>Bound usage per tenant</a:t>
            </a:r>
            <a:br>
              <a:rPr sz="1300" b="0" i="0">
                <a:solidFill>
                  <a:srgbClr val="DCE4F2"/>
                </a:solidFill>
                <a:latin typeface="Aptos"/>
              </a:rPr>
            </a:br>
            <a:endParaRPr sz="1300" b="0" i="0">
              <a:solidFill>
                <a:srgbClr val="DCE4F2"/>
              </a:solidFill>
              <a:latin typeface="Aptos"/>
            </a:endParaRPr>
          </a:p>
          <a:p>
            <a:pPr marL="217793" indent="-217793" algn="l">
              <a:spcBef>
                <a:spcPts val="0"/>
              </a:spcBef>
              <a:spcAft>
                <a:spcPts val="0"/>
              </a:spcAft>
              <a:buFont typeface="Wingdings"/>
              <a:buChar char="Ø"/>
              <a:defRPr/>
            </a:pPr>
            <a:r>
              <a:rPr sz="1300" b="0" i="0">
                <a:solidFill>
                  <a:srgbClr val="DCE4F2"/>
                </a:solidFill>
                <a:latin typeface="Aptos"/>
              </a:rPr>
              <a:t>Escalate exceptions instead of automating everything</a:t>
            </a:r>
            <a:endParaRPr sz="1300" b="0" i="0">
              <a:solidFill>
                <a:srgbClr val="DCE4F2"/>
              </a:solidFill>
              <a:latin typeface="Aptos"/>
            </a:endParaRPr>
          </a:p>
          <a:p>
            <a:pPr marL="217793" indent="-217793" algn="l">
              <a:spcBef>
                <a:spcPts val="0"/>
              </a:spcBef>
              <a:spcAft>
                <a:spcPts val="0"/>
              </a:spcAft>
              <a:buFont typeface="Wingdings"/>
              <a:buChar char="Ø"/>
              <a:defRPr/>
            </a:pPr>
            <a:r>
              <a:rPr sz="1300" b="0" i="0">
                <a:solidFill>
                  <a:srgbClr val="DCE4F2"/>
                </a:solidFill>
                <a:latin typeface="Aptos"/>
              </a:rPr>
              <a:t> Reuse one platform across client workspaces</a:t>
            </a:r>
            <a:endParaRPr/>
          </a:p>
        </p:txBody>
      </p:sp>
      <p:sp>
        <p:nvSpPr>
          <p:cNvPr id="1750447410" name="TextBox 14"/>
          <p:cNvSpPr txBox="1"/>
          <p:nvPr/>
        </p:nvSpPr>
        <p:spPr bwMode="auto">
          <a:xfrm>
            <a:off x="4590288" y="1810512"/>
            <a:ext cx="6682319" cy="2198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200" b="1" i="0">
                <a:solidFill>
                  <a:srgbClr val="F59E0B"/>
                </a:solidFill>
                <a:latin typeface="Aptos"/>
              </a:rPr>
              <a:t>PILOT PLAN: MEASURE BEFORE SCALING</a:t>
            </a:r>
            <a:r>
              <a:rPr lang="en" sz="1200" b="1" i="0">
                <a:solidFill>
                  <a:srgbClr val="F59E0B"/>
                </a:solidFill>
                <a:latin typeface="Aptos"/>
              </a:rPr>
              <a:t> (Testing Clients)</a:t>
            </a:r>
            <a:endParaRPr/>
          </a:p>
        </p:txBody>
      </p:sp>
      <p:sp>
        <p:nvSpPr>
          <p:cNvPr id="1185953402" name="Rounded Rectangle 15"/>
          <p:cNvSpPr/>
          <p:nvPr/>
        </p:nvSpPr>
        <p:spPr bwMode="auto">
          <a:xfrm>
            <a:off x="4590288" y="2249424"/>
            <a:ext cx="3200400" cy="1325880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5490510" name="Rectangle 16"/>
          <p:cNvSpPr/>
          <p:nvPr/>
        </p:nvSpPr>
        <p:spPr bwMode="auto">
          <a:xfrm>
            <a:off x="4590288" y="2249424"/>
            <a:ext cx="50292" cy="1325880"/>
          </a:xfrm>
          <a:prstGeom prst="rect">
            <a:avLst/>
          </a:prstGeom>
          <a:solidFill>
            <a:srgbClr val="10B98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9152249" name="TextBox 17"/>
          <p:cNvSpPr txBox="1"/>
          <p:nvPr/>
        </p:nvSpPr>
        <p:spPr bwMode="auto">
          <a:xfrm>
            <a:off x="4773168" y="2377440"/>
            <a:ext cx="2871216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00" b="1" i="0">
                <a:solidFill>
                  <a:srgbClr val="10B981"/>
                </a:solidFill>
                <a:latin typeface="Aptos"/>
              </a:rPr>
              <a:t>PILOT A • RETAIL</a:t>
            </a:r>
            <a:endParaRPr/>
          </a:p>
        </p:txBody>
      </p:sp>
      <p:sp>
        <p:nvSpPr>
          <p:cNvPr id="980948333" name="TextBox 18"/>
          <p:cNvSpPr txBox="1"/>
          <p:nvPr/>
        </p:nvSpPr>
        <p:spPr bwMode="auto">
          <a:xfrm>
            <a:off x="4773168" y="2573940"/>
            <a:ext cx="287121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600" b="1" i="0">
                <a:solidFill>
                  <a:srgbClr val="F8FAFC"/>
                </a:solidFill>
                <a:latin typeface="Aptos"/>
              </a:rPr>
              <a:t>CamTech Electronics</a:t>
            </a:r>
            <a:endParaRPr/>
          </a:p>
        </p:txBody>
      </p:sp>
      <p:sp>
        <p:nvSpPr>
          <p:cNvPr id="677395713" name="TextBox 19"/>
          <p:cNvSpPr txBox="1"/>
          <p:nvPr/>
        </p:nvSpPr>
        <p:spPr bwMode="auto">
          <a:xfrm>
            <a:off x="4773168" y="2916745"/>
            <a:ext cx="2852928" cy="466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200" b="0" i="0">
                <a:solidFill>
                  <a:srgbClr val="94A3B8"/>
                </a:solidFill>
                <a:latin typeface="Aptos"/>
              </a:rPr>
              <a:t>Track stock/price accuracy, response time, qualified product inquiries, and escalation rate.</a:t>
            </a:r>
            <a:endParaRPr/>
          </a:p>
        </p:txBody>
      </p:sp>
      <p:sp>
        <p:nvSpPr>
          <p:cNvPr id="1194235606" name="Rounded Rectangle 20"/>
          <p:cNvSpPr/>
          <p:nvPr/>
        </p:nvSpPr>
        <p:spPr bwMode="auto">
          <a:xfrm>
            <a:off x="8028431" y="2249424"/>
            <a:ext cx="3200400" cy="1325880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6380945" name="Rectangle 21"/>
          <p:cNvSpPr/>
          <p:nvPr/>
        </p:nvSpPr>
        <p:spPr bwMode="auto">
          <a:xfrm>
            <a:off x="8028431" y="2249424"/>
            <a:ext cx="50292" cy="1325880"/>
          </a:xfrm>
          <a:prstGeom prst="rect">
            <a:avLst/>
          </a:prstGeom>
          <a:solidFill>
            <a:srgbClr val="6366F1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079447" name="TextBox 22"/>
          <p:cNvSpPr txBox="1"/>
          <p:nvPr/>
        </p:nvSpPr>
        <p:spPr bwMode="auto">
          <a:xfrm>
            <a:off x="8211311" y="2377440"/>
            <a:ext cx="2871216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00" b="1" i="0">
                <a:solidFill>
                  <a:srgbClr val="6366F1"/>
                </a:solidFill>
                <a:latin typeface="Aptos"/>
              </a:rPr>
              <a:t>PILOT B • B2B SERVICES</a:t>
            </a:r>
            <a:endParaRPr/>
          </a:p>
        </p:txBody>
      </p:sp>
      <p:sp>
        <p:nvSpPr>
          <p:cNvPr id="100214361" name="TextBox 23"/>
          <p:cNvSpPr txBox="1"/>
          <p:nvPr/>
        </p:nvSpPr>
        <p:spPr bwMode="auto">
          <a:xfrm>
            <a:off x="8211310" y="2573940"/>
            <a:ext cx="287121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600" b="1" i="0">
                <a:solidFill>
                  <a:srgbClr val="F8FAFC"/>
                </a:solidFill>
                <a:latin typeface="Aptos"/>
              </a:rPr>
              <a:t>DouaTech Solution</a:t>
            </a:r>
            <a:endParaRPr/>
          </a:p>
        </p:txBody>
      </p:sp>
      <p:sp>
        <p:nvSpPr>
          <p:cNvPr id="1993061929" name="TextBox 24"/>
          <p:cNvSpPr txBox="1"/>
          <p:nvPr/>
        </p:nvSpPr>
        <p:spPr bwMode="auto">
          <a:xfrm>
            <a:off x="8211310" y="2916745"/>
            <a:ext cx="2853288" cy="6312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>
                <a:solidFill>
                  <a:srgbClr val="94A3B8"/>
                </a:solidFill>
                <a:latin typeface="Aptos"/>
              </a:rPr>
              <a:t>Track lead capture, service-scoping quality, discovery-call conversion, and staff time saved.</a:t>
            </a:r>
            <a:endParaRPr sz="1300"/>
          </a:p>
        </p:txBody>
      </p:sp>
      <p:sp>
        <p:nvSpPr>
          <p:cNvPr id="1879387212" name="Rounded Rectangle 25"/>
          <p:cNvSpPr/>
          <p:nvPr/>
        </p:nvSpPr>
        <p:spPr bwMode="auto">
          <a:xfrm>
            <a:off x="4590288" y="3858768"/>
            <a:ext cx="6638544" cy="1097280"/>
          </a:xfrm>
          <a:prstGeom prst="roundRect">
            <a:avLst>
              <a:gd name="adj" fmla="val 12000"/>
            </a:avLst>
          </a:prstGeom>
          <a:solidFill>
            <a:srgbClr val="101827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4939054" name="TextBox 26"/>
          <p:cNvSpPr txBox="1"/>
          <p:nvPr/>
        </p:nvSpPr>
        <p:spPr bwMode="auto">
          <a:xfrm>
            <a:off x="4828032" y="4050791"/>
            <a:ext cx="6172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000" b="1" i="0">
                <a:solidFill>
                  <a:srgbClr val="DCE4F2"/>
                </a:solidFill>
                <a:latin typeface="Aptos"/>
              </a:rPr>
              <a:t>UNIT ECONOMICS HYPOTHESIS</a:t>
            </a:r>
            <a:endParaRPr/>
          </a:p>
        </p:txBody>
      </p:sp>
      <p:sp>
        <p:nvSpPr>
          <p:cNvPr id="234377662" name="TextBox 27"/>
          <p:cNvSpPr txBox="1"/>
          <p:nvPr/>
        </p:nvSpPr>
        <p:spPr bwMode="auto">
          <a:xfrm>
            <a:off x="4828032" y="4370832"/>
            <a:ext cx="617220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1" i="0">
                <a:solidFill>
                  <a:srgbClr val="F8FAFC"/>
                </a:solidFill>
                <a:latin typeface="Aptos"/>
              </a:rPr>
              <a:t>Revenue per tenant − model/API cost − messaging cost − support cost = contribution margin.</a:t>
            </a:r>
            <a:endParaRPr/>
          </a:p>
        </p:txBody>
      </p:sp>
      <p:sp>
        <p:nvSpPr>
          <p:cNvPr id="2089367875" name="TextBox 28"/>
          <p:cNvSpPr txBox="1"/>
          <p:nvPr/>
        </p:nvSpPr>
        <p:spPr bwMode="auto">
          <a:xfrm>
            <a:off x="4617720" y="5212080"/>
            <a:ext cx="649224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200" b="0" i="0">
                <a:solidFill>
                  <a:srgbClr val="94A3B8"/>
                </a:solidFill>
                <a:latin typeface="Aptos"/>
              </a:rPr>
              <a:t>Pilot gates: validate channel reliability, data accuracy, safe escalation, cost per resolved interaction, and willingness to pay.</a:t>
            </a:r>
            <a:endParaRPr/>
          </a:p>
        </p:txBody>
      </p:sp>
      <p:sp>
        <p:nvSpPr>
          <p:cNvPr id="1702145980" name="TextBox 29"/>
          <p:cNvSpPr txBox="1"/>
          <p:nvPr/>
        </p:nvSpPr>
        <p:spPr bwMode="auto">
          <a:xfrm>
            <a:off x="685800" y="6199632"/>
            <a:ext cx="10841399" cy="2502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" sz="1400" b="1" i="0">
                <a:solidFill>
                  <a:srgbClr val="F59E0B"/>
                </a:solidFill>
                <a:latin typeface="Aptos"/>
              </a:rPr>
              <a:t>No </a:t>
            </a:r>
            <a:r>
              <a:rPr sz="1400" b="1" i="0">
                <a:solidFill>
                  <a:srgbClr val="F59E0B"/>
                </a:solidFill>
                <a:latin typeface="Aptos"/>
              </a:rPr>
              <a:t> claim</a:t>
            </a:r>
            <a:r>
              <a:rPr lang="en" sz="1400" b="1" i="0">
                <a:solidFill>
                  <a:srgbClr val="F59E0B"/>
                </a:solidFill>
                <a:latin typeface="Aptos"/>
              </a:rPr>
              <a:t>s on </a:t>
            </a:r>
            <a:r>
              <a:rPr sz="1400" b="1" i="0">
                <a:solidFill>
                  <a:srgbClr val="F59E0B"/>
                </a:solidFill>
                <a:latin typeface="Aptos"/>
              </a:rPr>
              <a:t> savings or ROI percentages until measured in pilot deployments.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0F1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0739998" name="TextBox 1"/>
          <p:cNvSpPr txBox="1"/>
          <p:nvPr/>
        </p:nvSpPr>
        <p:spPr bwMode="auto">
          <a:xfrm>
            <a:off x="530352" y="173545"/>
            <a:ext cx="10882079" cy="41793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2500" b="1" i="0">
                <a:solidFill>
                  <a:srgbClr val="6366F1"/>
                </a:solidFill>
                <a:latin typeface="Aptos"/>
              </a:rPr>
              <a:t>08 / WHY NOW • WHY US • WHY THIS </a:t>
            </a:r>
            <a:r>
              <a:rPr sz="2500" b="1" i="0">
                <a:solidFill>
                  <a:srgbClr val="6366F1"/>
                </a:solidFill>
                <a:latin typeface="Aptos"/>
              </a:rPr>
              <a:t>SHOULD </a:t>
            </a:r>
            <a:r>
              <a:rPr sz="2500" b="1" i="0">
                <a:solidFill>
                  <a:srgbClr val="6366F1"/>
                </a:solidFill>
                <a:latin typeface="Aptos"/>
              </a:rPr>
              <a:t>WIN</a:t>
            </a:r>
            <a:endParaRPr sz="2500"/>
          </a:p>
        </p:txBody>
      </p:sp>
      <p:sp>
        <p:nvSpPr>
          <p:cNvPr id="1885154262" name="TextBox 2"/>
          <p:cNvSpPr txBox="1"/>
          <p:nvPr/>
        </p:nvSpPr>
        <p:spPr bwMode="auto">
          <a:xfrm>
            <a:off x="530352" y="594360"/>
            <a:ext cx="110642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2600" b="1" i="0">
                <a:solidFill>
                  <a:srgbClr val="F8FAFC"/>
                </a:solidFill>
                <a:latin typeface="Aptos"/>
              </a:rPr>
              <a:t>AI adoption is accelerating. Trustworthy execution is the gap.</a:t>
            </a:r>
            <a:endParaRPr/>
          </a:p>
        </p:txBody>
      </p:sp>
      <p:sp>
        <p:nvSpPr>
          <p:cNvPr id="867690744" name="TextBox 3"/>
          <p:cNvSpPr txBox="1"/>
          <p:nvPr/>
        </p:nvSpPr>
        <p:spPr bwMode="auto">
          <a:xfrm>
            <a:off x="548640" y="1115568"/>
            <a:ext cx="10973160" cy="2502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94A3B8"/>
                </a:solidFill>
                <a:latin typeface="Aptos"/>
              </a:rPr>
              <a:t>ReplyFlow’s case is specific: a real founder pain, a customer-operations background, and a working product surface.</a:t>
            </a:r>
            <a:endParaRPr sz="1400"/>
          </a:p>
        </p:txBody>
      </p:sp>
      <p:sp>
        <p:nvSpPr>
          <p:cNvPr id="1301422669" name="Rectangle 4"/>
          <p:cNvSpPr/>
          <p:nvPr/>
        </p:nvSpPr>
        <p:spPr bwMode="auto">
          <a:xfrm>
            <a:off x="530352" y="6492240"/>
            <a:ext cx="11109960" cy="10972"/>
          </a:xfrm>
          <a:prstGeom prst="rect">
            <a:avLst/>
          </a:prstGeom>
          <a:solidFill>
            <a:srgbClr val="26334D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4981921" name="TextBox 5"/>
          <p:cNvSpPr txBox="1"/>
          <p:nvPr/>
        </p:nvSpPr>
        <p:spPr bwMode="auto">
          <a:xfrm>
            <a:off x="548640" y="6537960"/>
            <a:ext cx="7315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800" b="0" i="0">
                <a:solidFill>
                  <a:srgbClr val="94A3B8"/>
                </a:solidFill>
                <a:latin typeface="Aptos"/>
              </a:rPr>
              <a:t>REPLYFLOW  •  OPEN AGENT HACKATHON 2026</a:t>
            </a:r>
            <a:endParaRPr/>
          </a:p>
        </p:txBody>
      </p:sp>
      <p:sp>
        <p:nvSpPr>
          <p:cNvPr id="2000232749" name="TextBox 6"/>
          <p:cNvSpPr txBox="1"/>
          <p:nvPr/>
        </p:nvSpPr>
        <p:spPr bwMode="auto">
          <a:xfrm>
            <a:off x="11137392" y="6519672"/>
            <a:ext cx="43891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/>
            </a:pPr>
            <a:r>
              <a:rPr sz="800" b="1" i="0">
                <a:solidFill>
                  <a:srgbClr val="94A3B8"/>
                </a:solidFill>
                <a:latin typeface="Aptos"/>
              </a:rPr>
              <a:t>08/08</a:t>
            </a:r>
            <a:endParaRPr/>
          </a:p>
        </p:txBody>
      </p:sp>
      <p:sp>
        <p:nvSpPr>
          <p:cNvPr id="1028697273" name="Rounded Rectangle 7"/>
          <p:cNvSpPr/>
          <p:nvPr/>
        </p:nvSpPr>
        <p:spPr bwMode="auto">
          <a:xfrm flipH="0" flipV="0">
            <a:off x="566927" y="1700784"/>
            <a:ext cx="3456432" cy="1668684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7458685" name="Rectangle 8"/>
          <p:cNvSpPr/>
          <p:nvPr/>
        </p:nvSpPr>
        <p:spPr bwMode="auto">
          <a:xfrm flipH="0" flipV="0">
            <a:off x="566928" y="1700783"/>
            <a:ext cx="50292" cy="1621059"/>
          </a:xfrm>
          <a:prstGeom prst="rect">
            <a:avLst/>
          </a:prstGeom>
          <a:solidFill>
            <a:srgbClr val="6366F1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8278337" name="TextBox 9"/>
          <p:cNvSpPr txBox="1"/>
          <p:nvPr/>
        </p:nvSpPr>
        <p:spPr bwMode="auto">
          <a:xfrm>
            <a:off x="749808" y="1828800"/>
            <a:ext cx="312724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00" b="1" i="0">
                <a:solidFill>
                  <a:srgbClr val="6366F1"/>
                </a:solidFill>
                <a:latin typeface="Aptos"/>
              </a:rPr>
              <a:t>WHY NOW</a:t>
            </a:r>
            <a:endParaRPr/>
          </a:p>
        </p:txBody>
      </p:sp>
      <p:sp>
        <p:nvSpPr>
          <p:cNvPr id="877366744" name="TextBox 10"/>
          <p:cNvSpPr txBox="1"/>
          <p:nvPr/>
        </p:nvSpPr>
        <p:spPr bwMode="auto">
          <a:xfrm>
            <a:off x="749808" y="2025300"/>
            <a:ext cx="312724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600" b="1" i="0">
                <a:solidFill>
                  <a:srgbClr val="F8FAFC"/>
                </a:solidFill>
                <a:latin typeface="Aptos"/>
              </a:rPr>
              <a:t>AI needs operations</a:t>
            </a:r>
            <a:endParaRPr/>
          </a:p>
        </p:txBody>
      </p:sp>
      <p:sp>
        <p:nvSpPr>
          <p:cNvPr id="1125258652" name="TextBox 11"/>
          <p:cNvSpPr txBox="1"/>
          <p:nvPr/>
        </p:nvSpPr>
        <p:spPr bwMode="auto">
          <a:xfrm>
            <a:off x="749808" y="2368105"/>
            <a:ext cx="3109320" cy="8903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94A3B8"/>
                </a:solidFill>
                <a:latin typeface="Aptos"/>
              </a:rPr>
              <a:t>Businesses are adding AI to customer-facing work—but generic answers without business context can create more friction.</a:t>
            </a:r>
            <a:endParaRPr sz="1400"/>
          </a:p>
        </p:txBody>
      </p:sp>
      <p:sp>
        <p:nvSpPr>
          <p:cNvPr id="1715656639" name="Rounded Rectangle 12"/>
          <p:cNvSpPr/>
          <p:nvPr/>
        </p:nvSpPr>
        <p:spPr bwMode="auto">
          <a:xfrm flipH="0" flipV="0">
            <a:off x="4160519" y="1700784"/>
            <a:ext cx="3456432" cy="1668684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4538813" name="Rectangle 13"/>
          <p:cNvSpPr/>
          <p:nvPr/>
        </p:nvSpPr>
        <p:spPr bwMode="auto">
          <a:xfrm>
            <a:off x="4160519" y="1700784"/>
            <a:ext cx="50292" cy="1481328"/>
          </a:xfrm>
          <a:prstGeom prst="rect">
            <a:avLst/>
          </a:prstGeom>
          <a:solidFill>
            <a:srgbClr val="10B98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175162" name="TextBox 14"/>
          <p:cNvSpPr txBox="1"/>
          <p:nvPr/>
        </p:nvSpPr>
        <p:spPr bwMode="auto">
          <a:xfrm>
            <a:off x="4343400" y="1828800"/>
            <a:ext cx="312724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00" b="1" i="0">
                <a:solidFill>
                  <a:srgbClr val="10B981"/>
                </a:solidFill>
                <a:latin typeface="Aptos"/>
              </a:rPr>
              <a:t>WHY ME / WHY US</a:t>
            </a:r>
            <a:endParaRPr/>
          </a:p>
        </p:txBody>
      </p:sp>
      <p:sp>
        <p:nvSpPr>
          <p:cNvPr id="1159611428" name="TextBox 15"/>
          <p:cNvSpPr txBox="1"/>
          <p:nvPr/>
        </p:nvSpPr>
        <p:spPr bwMode="auto">
          <a:xfrm>
            <a:off x="4343400" y="2084832"/>
            <a:ext cx="312724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600" b="1" i="0">
                <a:solidFill>
                  <a:srgbClr val="F8FAFC"/>
                </a:solidFill>
                <a:latin typeface="Aptos"/>
              </a:rPr>
              <a:t>Built from the frontline</a:t>
            </a:r>
            <a:endParaRPr/>
          </a:p>
        </p:txBody>
      </p:sp>
      <p:sp>
        <p:nvSpPr>
          <p:cNvPr id="1584582805" name="TextBox 16"/>
          <p:cNvSpPr txBox="1"/>
          <p:nvPr/>
        </p:nvSpPr>
        <p:spPr bwMode="auto">
          <a:xfrm>
            <a:off x="4343400" y="2427636"/>
            <a:ext cx="3109320" cy="677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94A3B8"/>
                </a:solidFill>
                <a:latin typeface="Aptos"/>
              </a:rPr>
              <a:t>Founder Stephen Njong brings 4+ years across frontline and back-office customer experience.</a:t>
            </a:r>
            <a:endParaRPr sz="1400"/>
          </a:p>
        </p:txBody>
      </p:sp>
      <p:sp>
        <p:nvSpPr>
          <p:cNvPr id="2053425034" name="Rounded Rectangle 17"/>
          <p:cNvSpPr/>
          <p:nvPr/>
        </p:nvSpPr>
        <p:spPr bwMode="auto">
          <a:xfrm flipH="0" flipV="0">
            <a:off x="7754112" y="1700784"/>
            <a:ext cx="3822190" cy="1668684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6962602" name="Rectangle 18"/>
          <p:cNvSpPr/>
          <p:nvPr/>
        </p:nvSpPr>
        <p:spPr bwMode="auto">
          <a:xfrm>
            <a:off x="7754112" y="1700784"/>
            <a:ext cx="50292" cy="1481328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2184313" name="TextBox 19"/>
          <p:cNvSpPr txBox="1"/>
          <p:nvPr/>
        </p:nvSpPr>
        <p:spPr bwMode="auto">
          <a:xfrm>
            <a:off x="7936992" y="1828800"/>
            <a:ext cx="349300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00" b="1" i="0">
                <a:solidFill>
                  <a:srgbClr val="F59E0B"/>
                </a:solidFill>
                <a:latin typeface="Aptos"/>
              </a:rPr>
              <a:t>WHY REPLYFLOW SHOULD WIN</a:t>
            </a:r>
            <a:endParaRPr/>
          </a:p>
        </p:txBody>
      </p:sp>
      <p:sp>
        <p:nvSpPr>
          <p:cNvPr id="805680503" name="TextBox 20"/>
          <p:cNvSpPr txBox="1"/>
          <p:nvPr/>
        </p:nvSpPr>
        <p:spPr bwMode="auto">
          <a:xfrm>
            <a:off x="7936992" y="2084832"/>
            <a:ext cx="349300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600" b="1" i="0">
                <a:solidFill>
                  <a:srgbClr val="F8FAFC"/>
                </a:solidFill>
                <a:latin typeface="Aptos"/>
              </a:rPr>
              <a:t>A complete operating loop</a:t>
            </a:r>
            <a:endParaRPr/>
          </a:p>
        </p:txBody>
      </p:sp>
      <p:sp>
        <p:nvSpPr>
          <p:cNvPr id="448918074" name="TextBox 21"/>
          <p:cNvSpPr txBox="1"/>
          <p:nvPr/>
        </p:nvSpPr>
        <p:spPr bwMode="auto">
          <a:xfrm>
            <a:off x="7936992" y="2427636"/>
            <a:ext cx="3475080" cy="677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94A3B8"/>
                </a:solidFill>
                <a:latin typeface="Aptos"/>
              </a:rPr>
              <a:t>Triage → grounded data → policy check → action or human handoff, shown across retail and B2B client workspaces.</a:t>
            </a:r>
            <a:endParaRPr sz="1400"/>
          </a:p>
        </p:txBody>
      </p:sp>
      <p:sp>
        <p:nvSpPr>
          <p:cNvPr id="284151823" name="Rounded Rectangle 22"/>
          <p:cNvSpPr/>
          <p:nvPr/>
        </p:nvSpPr>
        <p:spPr bwMode="auto">
          <a:xfrm>
            <a:off x="566928" y="3529584"/>
            <a:ext cx="11009375" cy="2139696"/>
          </a:xfrm>
          <a:prstGeom prst="roundRect">
            <a:avLst>
              <a:gd name="adj" fmla="val 12000"/>
            </a:avLst>
          </a:prstGeom>
          <a:solidFill>
            <a:srgbClr val="161F30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2324548" name="TextBox 23"/>
          <p:cNvSpPr txBox="1"/>
          <p:nvPr/>
        </p:nvSpPr>
        <p:spPr bwMode="auto">
          <a:xfrm>
            <a:off x="822960" y="3749039"/>
            <a:ext cx="104241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200" b="1" i="0">
                <a:solidFill>
                  <a:srgbClr val="F8FAFC"/>
                </a:solidFill>
                <a:latin typeface="Aptos"/>
              </a:rPr>
              <a:t>NEXT: PROVE IT IN REAL OPERATIONS</a:t>
            </a:r>
            <a:endParaRPr/>
          </a:p>
        </p:txBody>
      </p:sp>
      <p:sp>
        <p:nvSpPr>
          <p:cNvPr id="1961782288" name="Rounded Rectangle 24"/>
          <p:cNvSpPr/>
          <p:nvPr/>
        </p:nvSpPr>
        <p:spPr bwMode="auto">
          <a:xfrm flipH="0" flipV="0">
            <a:off x="841247" y="4233672"/>
            <a:ext cx="3154680" cy="1243202"/>
          </a:xfrm>
          <a:prstGeom prst="roundRect">
            <a:avLst>
              <a:gd name="adj" fmla="val 12000"/>
            </a:avLst>
          </a:prstGeom>
          <a:solidFill>
            <a:srgbClr val="101827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4999960" name="TextBox 25"/>
          <p:cNvSpPr txBox="1"/>
          <p:nvPr/>
        </p:nvSpPr>
        <p:spPr bwMode="auto">
          <a:xfrm>
            <a:off x="987552" y="4370832"/>
            <a:ext cx="6583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00" b="1" i="0">
                <a:solidFill>
                  <a:srgbClr val="6366F1"/>
                </a:solidFill>
                <a:latin typeface="Aptos"/>
              </a:rPr>
              <a:t>NOW</a:t>
            </a:r>
            <a:endParaRPr/>
          </a:p>
        </p:txBody>
      </p:sp>
      <p:sp>
        <p:nvSpPr>
          <p:cNvPr id="1566621467" name="TextBox 26"/>
          <p:cNvSpPr txBox="1"/>
          <p:nvPr/>
        </p:nvSpPr>
        <p:spPr bwMode="auto">
          <a:xfrm>
            <a:off x="987552" y="4599432"/>
            <a:ext cx="28346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300" b="1" i="0">
                <a:solidFill>
                  <a:srgbClr val="F8FAFC"/>
                </a:solidFill>
                <a:latin typeface="Aptos"/>
              </a:rPr>
              <a:t>Commercial pilots</a:t>
            </a:r>
            <a:endParaRPr/>
          </a:p>
        </p:txBody>
      </p:sp>
      <p:sp>
        <p:nvSpPr>
          <p:cNvPr id="1787194436" name="TextBox 27"/>
          <p:cNvSpPr txBox="1"/>
          <p:nvPr/>
        </p:nvSpPr>
        <p:spPr bwMode="auto">
          <a:xfrm>
            <a:off x="987552" y="4882896"/>
            <a:ext cx="2835000" cy="2350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>
                <a:solidFill>
                  <a:srgbClr val="94A3B8"/>
                </a:solidFill>
                <a:latin typeface="Aptos"/>
              </a:rPr>
              <a:t>CamTech + DouaTech</a:t>
            </a:r>
            <a:endParaRPr sz="1300"/>
          </a:p>
        </p:txBody>
      </p:sp>
      <p:sp>
        <p:nvSpPr>
          <p:cNvPr id="1187455219" name="Rounded Rectangle 28"/>
          <p:cNvSpPr/>
          <p:nvPr/>
        </p:nvSpPr>
        <p:spPr bwMode="auto">
          <a:xfrm flipH="0" flipV="0">
            <a:off x="4407408" y="4233672"/>
            <a:ext cx="3154680" cy="1243202"/>
          </a:xfrm>
          <a:prstGeom prst="roundRect">
            <a:avLst>
              <a:gd name="adj" fmla="val 12000"/>
            </a:avLst>
          </a:prstGeom>
          <a:solidFill>
            <a:srgbClr val="101827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2857106" name="TextBox 29"/>
          <p:cNvSpPr txBox="1"/>
          <p:nvPr/>
        </p:nvSpPr>
        <p:spPr bwMode="auto">
          <a:xfrm>
            <a:off x="4553712" y="4370832"/>
            <a:ext cx="6583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00" b="1" i="0">
                <a:solidFill>
                  <a:srgbClr val="10B981"/>
                </a:solidFill>
                <a:latin typeface="Aptos"/>
              </a:rPr>
              <a:t>NEXT</a:t>
            </a:r>
            <a:endParaRPr/>
          </a:p>
        </p:txBody>
      </p:sp>
      <p:sp>
        <p:nvSpPr>
          <p:cNvPr id="1876714256" name="TextBox 30"/>
          <p:cNvSpPr txBox="1"/>
          <p:nvPr/>
        </p:nvSpPr>
        <p:spPr bwMode="auto">
          <a:xfrm>
            <a:off x="4553712" y="4599432"/>
            <a:ext cx="28346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300" b="1" i="0">
                <a:solidFill>
                  <a:srgbClr val="F8FAFC"/>
                </a:solidFill>
                <a:latin typeface="Aptos"/>
              </a:rPr>
              <a:t>Production monitoring</a:t>
            </a:r>
            <a:endParaRPr/>
          </a:p>
        </p:txBody>
      </p:sp>
      <p:sp>
        <p:nvSpPr>
          <p:cNvPr id="846015814" name="TextBox 31"/>
          <p:cNvSpPr txBox="1"/>
          <p:nvPr/>
        </p:nvSpPr>
        <p:spPr bwMode="auto">
          <a:xfrm>
            <a:off x="4553712" y="4882896"/>
            <a:ext cx="2835000" cy="4331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>
                <a:solidFill>
                  <a:srgbClr val="94A3B8"/>
                </a:solidFill>
                <a:latin typeface="Aptos"/>
              </a:rPr>
              <a:t>Reliability, accuracy, cost per resolution</a:t>
            </a:r>
            <a:endParaRPr sz="1300"/>
          </a:p>
        </p:txBody>
      </p:sp>
      <p:sp>
        <p:nvSpPr>
          <p:cNvPr id="370173128" name="Rounded Rectangle 32"/>
          <p:cNvSpPr/>
          <p:nvPr/>
        </p:nvSpPr>
        <p:spPr bwMode="auto">
          <a:xfrm flipH="0" flipV="0">
            <a:off x="7973568" y="4233672"/>
            <a:ext cx="3154680" cy="1243202"/>
          </a:xfrm>
          <a:prstGeom prst="roundRect">
            <a:avLst>
              <a:gd name="adj" fmla="val 12000"/>
            </a:avLst>
          </a:prstGeom>
          <a:solidFill>
            <a:srgbClr val="101827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2296587" name="TextBox 33"/>
          <p:cNvSpPr txBox="1"/>
          <p:nvPr/>
        </p:nvSpPr>
        <p:spPr bwMode="auto">
          <a:xfrm>
            <a:off x="8119872" y="4370832"/>
            <a:ext cx="6583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00" b="1" i="0">
                <a:solidFill>
                  <a:srgbClr val="10B981"/>
                </a:solidFill>
                <a:latin typeface="Aptos"/>
              </a:rPr>
              <a:t>THEN</a:t>
            </a:r>
            <a:endParaRPr/>
          </a:p>
        </p:txBody>
      </p:sp>
      <p:sp>
        <p:nvSpPr>
          <p:cNvPr id="1031323657" name="TextBox 34"/>
          <p:cNvSpPr txBox="1"/>
          <p:nvPr/>
        </p:nvSpPr>
        <p:spPr bwMode="auto">
          <a:xfrm>
            <a:off x="8119872" y="4599432"/>
            <a:ext cx="28346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300" b="1" i="0">
                <a:solidFill>
                  <a:srgbClr val="F8FAFC"/>
                </a:solidFill>
                <a:latin typeface="Aptos"/>
              </a:rPr>
              <a:t>Regional expansion</a:t>
            </a:r>
            <a:endParaRPr/>
          </a:p>
        </p:txBody>
      </p:sp>
      <p:sp>
        <p:nvSpPr>
          <p:cNvPr id="444289905" name="TextBox 35"/>
          <p:cNvSpPr txBox="1"/>
          <p:nvPr/>
        </p:nvSpPr>
        <p:spPr bwMode="auto">
          <a:xfrm>
            <a:off x="8119872" y="4882896"/>
            <a:ext cx="2835000" cy="4331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>
                <a:solidFill>
                  <a:srgbClr val="94A3B8"/>
                </a:solidFill>
                <a:latin typeface="Aptos"/>
              </a:rPr>
              <a:t>More channels, clients, and business systems</a:t>
            </a:r>
            <a:endParaRPr sz="1300"/>
          </a:p>
        </p:txBody>
      </p:sp>
      <p:sp>
        <p:nvSpPr>
          <p:cNvPr id="1960603593" name="TextBox 36"/>
          <p:cNvSpPr txBox="1"/>
          <p:nvPr/>
        </p:nvSpPr>
        <p:spPr bwMode="auto">
          <a:xfrm>
            <a:off x="713232" y="5925312"/>
            <a:ext cx="107899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400" b="1" i="0">
                <a:solidFill>
                  <a:srgbClr val="DCE4F2"/>
                </a:solidFill>
                <a:latin typeface="Aptos"/>
              </a:rPr>
              <a:t>ReplyFlow doesn’t promise that AI replaces every agent. It promises that fewer customers are lost in the gaps—and that people keep control when it matters.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ONLYOFFICE/9.1.0.172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2026-10-24T14:44:44Z</dcterms:modified>
  <cp:category/>
</cp:coreProperties>
</file>